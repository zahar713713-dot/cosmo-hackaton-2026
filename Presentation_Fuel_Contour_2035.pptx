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7132320" cy="5577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713232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КОСМОХАКАТОН 2026 // САНКТ-ПЕТЕРБУРГ</a:t>
            </a:r>
          </a:p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</a:defRPr>
            </a:pPr>
            <a:r>
              <a:t>ТОПЛИВНЫЙ КОСМОКОНТУР (2035)</a:t>
            </a:r>
          </a:p>
          <a:p>
            <a:pPr>
              <a:spcAft>
                <a:spcPts val="2000"/>
              </a:spcAft>
              <a:defRPr sz="1300">
                <a:solidFill>
                  <a:srgbClr val="334155"/>
                </a:solidFill>
              </a:defRPr>
            </a:pPr>
            <a:r>
              <a:t>Оптимизация материального баланса, стоимости жизненного цикла (LCC) и устойчивости снабжения цислунарного Орбитального топливного узла (ОТУ) на 2035–2040 гг.</a:t>
            </a:r>
          </a:p>
          <a:p>
            <a:pPr>
              <a:spcAft>
                <a:spcPts val="2400"/>
              </a:spcAft>
              <a:defRPr sz="1100" b="1">
                <a:solidFill>
                  <a:srgbClr val="10955D"/>
                </a:solidFill>
              </a:defRPr>
            </a:pPr>
            <a:r>
              <a:t>★ ЧИСТАЯ ЭКОНОМИЯ: 11.81% (–1 096.8 МЛН У.Е. NPV / –1 384.5 МЛН LCC)</a:t>
            </a:r>
            <a:br/>
            <a:r>
              <a:t>★ КРИТИЧЕСКИЙ SLA: 100.0% // ПИЛОТИРУЕМЫЕ МИССИИ ЗАЩИЩЕНЫ НА 100%</a:t>
            </a:r>
            <a:br/>
            <a:r>
              <a:t>★ ГОТОВНОСТЬ TRL-4/5: 792/792 МАТЕМАТИЧЕСКИХ ИНВАРИАНТА ВЕРИФИЦИРОВАНО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Команда: Whatrushki | Федеральный проект «Кадры для космоса»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640080"/>
            <a:ext cx="3383280" cy="5577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640080"/>
            <a:ext cx="3383280" cy="73152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955D"/>
                </a:solidFill>
              </a:defRPr>
            </a:pPr>
            <a:r>
              <a:t>ИНТЕРАКТИВНЫЙ ЦИФРОВОЙ КОНТУР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Отсканируйте камерой смартфона для живого тестирования прямо сейчас:</a:t>
            </a:r>
          </a:p>
        </p:txBody>
      </p:sp>
      <p:pic>
        <p:nvPicPr>
          <p:cNvPr id="9" name="Picture 8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011680"/>
            <a:ext cx="219456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43434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zahar713713-dot.github.io/Cosmo-Hackaton-2026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✓ 100% Zero-Backend (клиентский расчет)</a:t>
            </a:r>
            <a:br/>
            <a:r>
              <a:t>✓ Адаптировано под мобильные устройства</a:t>
            </a:r>
            <a:br/>
            <a:r>
              <a:t>✓ Ползунки, стресс-тест и экспорт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СТРУКТУРА СИСТЕМЫ И ОГРАНИЧЕНИЯ ТЗ</a:t>
            </a:r>
          </a:p>
          <a:p>
            <a:pPr>
              <a:defRPr sz="2100" b="1">
                <a:solidFill>
                  <a:srgbClr val="0F172A"/>
                </a:solidFill>
              </a:defRPr>
            </a:pPr>
            <a:r>
              <a:t>ФИЗИЧЕСКИЙ УЗЕЛ ОТУ И 5 КАНАЛОВ СНАБЖЕНИЯ 2035–2040 ГГ.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"/>
            <a:ext cx="13716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⏱ 0:45 – 1:45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ОРБИТАЛЬНЫЙ ТОПЛИВНЫЙ УЗЕЛ (ОТУ)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Вместимость баков: </a:t>
            </a:r>
            <a:r>
              <a:rPr b="0">
                <a:solidFill>
                  <a:srgbClr val="334155"/>
                </a:solidFill>
              </a:rPr>
              <a:t>70 тонн (база) → 120 тонн (после ZBO)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Страховой буфер: </a:t>
            </a:r>
            <a:r>
              <a:rPr b="0">
                <a:solidFill>
                  <a:srgbClr val="334155"/>
                </a:solidFill>
              </a:rPr>
              <a:t>45 суток непрерывного спроса R_45d = ceil(D·45/365)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Потери throughput: </a:t>
            </a:r>
            <a:r>
              <a:rPr b="0">
                <a:solidFill>
                  <a:srgbClr val="334155"/>
                </a:solidFill>
              </a:rPr>
              <a:t>4.5% (базовые) → 1.2% (ZBO-модернизация)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Тариф на хранение: </a:t>
            </a:r>
            <a:r>
              <a:rPr b="0">
                <a:solidFill>
                  <a:srgbClr val="334155"/>
                </a:solidFill>
              </a:rPr>
              <a:t>0.72 млн у.е./т·год на средний остаток топлива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Ключевой вызов: </a:t>
            </a:r>
            <a:r>
              <a:rPr b="0">
                <a:solidFill>
                  <a:srgbClr val="334155"/>
                </a:solidFill>
              </a:rPr>
              <a:t>Спрос растет со 100 т (2035) до 390 т (2040) — в 3.9 раза! Без ZBO баки переполняются, а потери превышают лимит.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4114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4114800" cy="7315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5309"/>
                </a:solidFill>
              </a:defRPr>
            </a:pPr>
            <a:r>
              <a:t>5 ТРАНСПОРТНЫХ КАНАЛОВ ПОСТАВКИ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Канал A (Earth-Core): </a:t>
            </a:r>
            <a:r>
              <a:rPr b="0">
                <a:solidFill>
                  <a:srgbClr val="334155"/>
                </a:solidFill>
              </a:rPr>
              <a:t>190 т/год | Тариф 6.2 + 0.45 бронь | TOP 70% (85%) | Lead time 12 мес. Фундамент земного плеча.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Канал B (Earth-Flex): </a:t>
            </a:r>
            <a:r>
              <a:rPr b="0">
                <a:solidFill>
                  <a:srgbClr val="334155"/>
                </a:solidFill>
              </a:rPr>
              <a:t>110 т/год | Тариф 8.9 + 0.15 бронь | TOP 0% | Lead time 4 мес. Оперативная балансировка.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Канал C (Earth-New): </a:t>
            </a:r>
            <a:r>
              <a:rPr b="0">
                <a:solidFill>
                  <a:srgbClr val="334155"/>
                </a:solidFill>
              </a:rPr>
              <a:t>130 т/год | 90М опцион + 270М ввод | Тариф 7.1 + 0.30 | TOP 50% | Lead time 18-24 мес.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Канал D (Lunar-ISRU): </a:t>
            </a:r>
            <a:r>
              <a:rPr b="0">
                <a:solidFill>
                  <a:srgbClr val="334155"/>
                </a:solidFill>
              </a:rPr>
              <a:t>120 т/год | CAPEX 1 250М (2037) | Тариф 3.0, нулевая бронь! | Старт с 2038 г. Лунный суверенитет.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Канал E (Emergency): </a:t>
            </a:r>
            <a:r>
              <a:rPr b="0">
                <a:solidFill>
                  <a:srgbClr val="334155"/>
                </a:solidFill>
              </a:rPr>
              <a:t>80 т/год | Тариф 13.8 + 0.35 | Lead time 6 нед. Жесткий лимит ТЗ: не более 2 лет подряд.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508760"/>
            <a:ext cx="26517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508760"/>
            <a:ext cx="2651760" cy="73152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955D"/>
                </a:solidFill>
              </a:defRPr>
            </a:pPr>
            <a:r>
              <a:t>НОРМАТИВЫ И ДИРЕКТИВНЫЙ SLA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Критический спрос: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SLA ≥ 99.0%</a:t>
            </a:r>
            <a:br/>
            <a:r>
              <a:t>Пилотируемая лунная база и безопасность космонавтов.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Совокупный спрос: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SLA ≥ 97.0%</a:t>
            </a:r>
            <a:br/>
            <a:r>
              <a:t>Грузовые рейсы, геостационарные спутники, буксиры.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Лимит CAPEX 2037: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≤ 1 800.0 млн у.е.</a:t>
            </a:r>
            <a:br/>
            <a:r>
              <a:t>Первый этап финансирования.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Полный лимит CAPEX: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≤ 2 800.0 млн у.е.</a:t>
            </a:r>
            <a:br/>
            <a:r>
              <a:t>Совокупная программа 2040.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Потолок потерь: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≤ 2.0% при стрессе (ТЗ)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МАТЕМАТИЧЕСКАЯ ОПТИМИЗАЦИЯ NASA MILP</a:t>
            </a:r>
          </a:p>
          <a:p>
            <a:pPr>
              <a:defRPr sz="2100" b="1">
                <a:solidFill>
                  <a:srgbClr val="0F172A"/>
                </a:solidFill>
              </a:defRPr>
            </a:pPr>
            <a:r>
              <a:t>ЭКОНОМИЯ 11.81% (–1 096.8 МЛН У.Е. NPV) ПРОТИВ РЕГЛАМЕНТА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"/>
            <a:ext cx="13716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⏱ 1:45 – 3:00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955D"/>
                </a:solidFill>
              </a:defRPr>
            </a:pPr>
            <a:r>
              <a:t>ЧИСТАЯ ЭКОНОМИЯ NPV (r=8%)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–11.81% (–1 096.76 млн)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8 188.52 млн у.е. против 9 285.28 млн регламента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1887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ЭКОНОМИЯ ЗАТРАТ ЖИЗНЕННОГО ЦИКЛА (LCC)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–1 384.48 млн у.е.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10 206.17 млн у.е. против 11 590.65 млн регламента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00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ШТРАФЫ TAKE-OR-PAY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0.00 млн у.е. (100% УСТРАНЕНЫ)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Синхронизация брони и отбора топлива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698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297180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2011680"/>
                <a:gridCol w="1828800"/>
                <a:gridCol w="1828800"/>
              </a:tblGrid>
              <a:tr h="43107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Показатель эффективности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Регламент ТЗ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NASA MILP (Наш выбор)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Дельта (Экономия)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Эффект / Статус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Приведенная стоимость затрат (NPV, r=8%)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9 285.28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8 188.52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–1 096.76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Экономия 11.81%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Совокупные затраты жизненного цикла (LCC)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11 590.65 млн у.е.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10 206.17 млн у.е.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–1 384.48 млн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Экономия 11.94%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Затраты на закупку и бронирование КРТ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9 735.65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8 411.17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–1 324.48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Оптимизация каналов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Штрафы за недобор Take-or-Pay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342.10 млн у.е.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0.00 млн у.е.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–342.10 млн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Ликвидированы 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Затраты на хранение топлива на ОТУ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425.00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365.00 млн у.е.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–60.00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Минимизация затоваривания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Средний уровень сервиса (SLA Total / Critical)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97.4% / 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97.8% / 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D"/>
                          </a:solidFill>
                        </a:defRPr>
                      </a:pPr>
                      <a:r>
                        <a:t>+0.4% / 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Нормативы перевыполнены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КАПИТАЛЬНЫЕ ЗАТРАТЫ (CAPEX) И СТРАТЕГИЯ</a:t>
            </a:r>
          </a:p>
          <a:p>
            <a:pPr>
              <a:defRPr sz="2100" b="1">
                <a:solidFill>
                  <a:srgbClr val="0F172A"/>
                </a:solidFill>
              </a:defRPr>
            </a:pPr>
            <a:r>
              <a:t>СТРАТЕГИЧЕСКИЙ ИНВЕСТ-ПОРТФЕЛЬ И ЛУННЫЙ СУВЕРЕНИТЕТ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"/>
            <a:ext cx="13716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⏱ 3:00 – 4:15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73152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955D"/>
                </a:solidFill>
              </a:defRPr>
            </a:pPr>
            <a:r>
              <a:t>1. ZBO-МОДЕРНИЗАЦИЯ (ВВОД В 2036 Г.)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Инвестиции CAPEX: </a:t>
            </a:r>
            <a:r>
              <a:rPr b="0">
                <a:solidFill>
                  <a:srgbClr val="334155"/>
                </a:solidFill>
              </a:rPr>
              <a:t>180.0 млн у.е. (в 2036 г.)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Операционные OPEX: </a:t>
            </a:r>
            <a:r>
              <a:rPr b="0">
                <a:solidFill>
                  <a:srgbClr val="334155"/>
                </a:solidFill>
              </a:rPr>
              <a:t>+12.0 млн у.е./год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Снижение потерь: </a:t>
            </a:r>
            <a:r>
              <a:rPr b="0">
                <a:solidFill>
                  <a:srgbClr val="334155"/>
                </a:solidFill>
              </a:rPr>
              <a:t>С 4.5% до 1.2% (экономия ~35 т КРТ/год)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Расширение баков: </a:t>
            </a:r>
            <a:r>
              <a:rPr b="0">
                <a:solidFill>
                  <a:srgbClr val="334155"/>
                </a:solidFill>
              </a:rPr>
              <a:t>С 70 т до 120 т (гарантия буфера 45 дней)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Срок окупаемости: </a:t>
            </a:r>
            <a:r>
              <a:rPr b="0">
                <a:solidFill>
                  <a:srgbClr val="334155"/>
                </a:solidFill>
              </a:rPr>
              <a:t>2.3 года! Полная окупаемость уже в 2038 г.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Значение для ТЗ: </a:t>
            </a:r>
            <a:r>
              <a:rPr b="0">
                <a:solidFill>
                  <a:srgbClr val="334155"/>
                </a:solidFill>
              </a:rPr>
              <a:t>Единственный способ пройти стресс-тест ТЗ (потери ≤2.0%).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E22CE"/>
                </a:solidFill>
              </a:defRPr>
            </a:pPr>
            <a:r>
              <a:t>2. ДОБЫЧА LUNAR-ISRU (ВВОД В 2038 Г.)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Инвестиции CAPEX: </a:t>
            </a:r>
            <a:r>
              <a:rPr b="0">
                <a:solidFill>
                  <a:srgbClr val="334155"/>
                </a:solidFill>
              </a:rPr>
              <a:t>1 250.0 млн у.е. (транш 2037 г.)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Операционные OPEX: </a:t>
            </a:r>
            <a:r>
              <a:rPr b="0">
                <a:solidFill>
                  <a:srgbClr val="334155"/>
                </a:solidFill>
              </a:rPr>
              <a:t>+70.0 млн у.е./год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Себестоимость КРТ: </a:t>
            </a:r>
            <a:r>
              <a:rPr b="0">
                <a:solidFill>
                  <a:srgbClr val="334155"/>
                </a:solidFill>
              </a:rPr>
              <a:t>3.0 млн у.е./т (в 2.5–4.5 раза дешевле Земли!)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Тариф бронирования: </a:t>
            </a:r>
            <a:r>
              <a:rPr b="0">
                <a:solidFill>
                  <a:srgbClr val="334155"/>
                </a:solidFill>
              </a:rPr>
              <a:t>0.0 млн у.е. (собственная инфраструктура)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Доля лунного топлива: </a:t>
            </a:r>
            <a:r>
              <a:rPr b="0">
                <a:solidFill>
                  <a:srgbClr val="334155"/>
                </a:solidFill>
              </a:rPr>
              <a:t>28.4% к 2040 г. (120 т/год из 390 т)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Стратегический эффект: </a:t>
            </a:r>
            <a:r>
              <a:rPr b="0">
                <a:solidFill>
                  <a:srgbClr val="334155"/>
                </a:solidFill>
              </a:rPr>
              <a:t>Переход к ресурсному суверенитету и резкое падение зависимости от земных РН.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7315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45309"/>
                </a:solidFill>
              </a:defRPr>
            </a:pPr>
            <a:r>
              <a:t>3. ОПЦИОН EARTH-NEW (КАНАЛ C)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Стоимость опциона: </a:t>
            </a:r>
            <a:r>
              <a:rPr b="0">
                <a:solidFill>
                  <a:srgbClr val="334155"/>
                </a:solidFill>
              </a:rPr>
              <a:t>90.0 млн у.е. (2035 г.)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Стоимость исполнения: </a:t>
            </a:r>
            <a:r>
              <a:rPr b="0">
                <a:solidFill>
                  <a:srgbClr val="334155"/>
                </a:solidFill>
              </a:rPr>
              <a:t>270.0 млн у.е. (Суммарно 360.0 млн)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Решение оптимизатора: </a:t>
            </a:r>
            <a:r>
              <a:rPr b="0">
                <a:solidFill>
                  <a:srgbClr val="334155"/>
                </a:solidFill>
              </a:rPr>
              <a:t>НЕ активировать в базовом сценарии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Обоснование отказа: </a:t>
            </a:r>
            <a:r>
              <a:rPr b="0">
                <a:solidFill>
                  <a:srgbClr val="334155"/>
                </a:solidFill>
              </a:rPr>
              <a:t>Lunar-ISRU дешевле (3.0 vs 7.1 млн/т). Активация Канала C избыточна и увеличивает LCC на +260 млн.</a:t>
            </a:r>
          </a:p>
          <a:p>
            <a:pPr>
              <a:spcAft>
                <a:spcPts val="300"/>
              </a:spcAft>
              <a:defRPr b="1" sz="950">
                <a:solidFill>
                  <a:srgbClr val="0F172A"/>
                </a:solidFill>
              </a:defRPr>
            </a:pPr>
            <a:r>
              <a:t>• Роль в программе: </a:t>
            </a:r>
            <a:r>
              <a:rPr b="0">
                <a:solidFill>
                  <a:srgbClr val="334155"/>
                </a:solidFill>
              </a:rPr>
              <a:t>Резервный инструмент хеджирования (real option) при задержке развертывания Lunar-ISRU.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698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0284C7"/>
                </a:solidFill>
              </a:defRPr>
            </a:pPr>
            <a:r>
              <a:t>БЮДЖЕТНАЯ ДИСЦИПЛИНА И СОБЛЮДЕНИЕ ПОТОЛКОВ ТЗ:</a:t>
            </a:r>
          </a:p>
          <a:p>
            <a:pPr>
              <a:defRPr b="1" sz="950">
                <a:solidFill>
                  <a:srgbClr val="10955D"/>
                </a:solidFill>
              </a:defRPr>
            </a:pPr>
            <a:r>
              <a:t>✔ CAPEX до конца 2037 г.: 1 430.0 млн у.е. (Лимит ТЗ 1 800.0 млн | Запас надежности +370.0 млн)    ✔ Совокупный CAPEX 2040 г.: 1 430.0 млн у.е. (Лимит ТЗ 2 800.0 млн | Запас +1 370.0 млн)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СТРЕСС-ТЕСТИРОВАНИЕ И УПРАВЛЕНИЕ РИСКАМИ</a:t>
            </a:r>
          </a:p>
          <a:p>
            <a:pPr>
              <a:defRPr sz="2100" b="1">
                <a:solidFill>
                  <a:srgbClr val="0F172A"/>
                </a:solidFill>
              </a:defRPr>
            </a:pPr>
            <a:r>
              <a:t>ПРОВЕРКА ОТКАЗОУСТОЙЧИВОСТИ: КРИТИЧЕСКИЙ SLA 100.00%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"/>
            <a:ext cx="13716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⏱ 4:15 – 5:30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7315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ПАРАМЕТРЫ ОБЯЗАТЕЛЬНОГО СТРЕСС-ТЕСТА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Срыв земных поставок: </a:t>
            </a:r>
            <a:r>
              <a:rPr b="0">
                <a:solidFill>
                  <a:srgbClr val="334155"/>
                </a:solidFill>
              </a:rPr>
              <a:t>–15% во все годы стресс-сценария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Инфляция тарифов: </a:t>
            </a:r>
            <a:r>
              <a:rPr b="0">
                <a:solidFill>
                  <a:srgbClr val="334155"/>
                </a:solidFill>
              </a:rPr>
              <a:t>+25% на все переменные тарифы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Срыв отдачи ISRU: </a:t>
            </a:r>
            <a:r>
              <a:rPr b="0">
                <a:solidFill>
                  <a:srgbClr val="334155"/>
                </a:solidFill>
              </a:rPr>
              <a:t>2038: 55% мощности (66 т)
2039: 75% мощности (90 т)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Рост директивного спроса: </a:t>
            </a:r>
            <a:r>
              <a:rPr b="0">
                <a:solidFill>
                  <a:srgbClr val="334155"/>
                </a:solidFill>
              </a:rPr>
              <a:t>+15% во все годы планирования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Условия прохождения ТЗ: </a:t>
            </a:r>
            <a:r>
              <a:rPr b="0">
                <a:solidFill>
                  <a:srgbClr val="334155"/>
                </a:solidFill>
              </a:rPr>
              <a:t>1) Покрытие критического спроса
2) Потери испарения ≤ 2.0%
3) Лимит Emergency ≤ 2 лет подряд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955D"/>
                </a:solidFill>
              </a:defRPr>
            </a:pPr>
            <a:r>
              <a:t>КРИТИЧЕСКИЙ SLA В СТРЕССЕ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100.00% (БЕЗ ДЕФИЦИТА)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Пилотируемые миссии защищены абсолютно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508760"/>
            <a:ext cx="3474720" cy="1280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ПОТЕРИ THROUGHPUT ПРИ СТРЕССЕ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1.20% (НОРМАТИВ ТЗ ≤ 2.0%)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Строгое соответствие критерию 14 кейса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926080"/>
            <a:ext cx="71323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713232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06324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284C7"/>
                </a:solidFill>
              </a:defRPr>
            </a:pPr>
            <a:r>
              <a:t>МАТРИЦА ХЕДЖИРОВАНИЯ И ИЗОЛЯЦИИ РИСКОВ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Технический срыв канала Earth-Core (–15%):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Хедж: Увеличенный склад 120 т ZBO + оперативная балансировка через гибкий Канал B (Earth-Flex) с lead time 4 мес.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Задержка ввода лунного завода Lunar-ISRU: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Хедж: Сохранение опциона Канала C (Earth-New), позволяющего развернуть 130 т/год мощности за 18–24 мес.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Риск переполнения баков и затоваривания: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Хедж: Математическая синхронизация бронирования и отбора (NASA MILP), устраняющая штрафы Take-or-Pay.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★ Геополитический шок и закрытие земных каналов: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Хедж: Достижение 28.4% автономности на лунном водороде и кислороде к 2040 г., масштабируемое до 50%+ к 2045 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ЦИФРОВОЙ КОНТУР И ГОТОВНОСТЬ К ВНЕДРЕНИЮ</a:t>
            </a:r>
          </a:p>
          <a:p>
            <a:pPr>
              <a:defRPr sz="2100" b="1">
                <a:solidFill>
                  <a:srgbClr val="0F172A"/>
                </a:solidFill>
              </a:defRPr>
            </a:pPr>
            <a:r>
              <a:t>ДЕЙСТВУЮЩИЙ ПРОТОТИП УРОВНЯ TRL-4/5: СТЕК И ДЕМОНСТРАЦИЯ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"/>
            <a:ext cx="13716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⏱ 5:30 – 6:30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ПРОМЫШЛЕННЫЙ ТЕХНОЛОГИЧЕСКИЙ СТЕК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Математическое ядро: </a:t>
            </a:r>
            <a:r>
              <a:rPr b="0">
                <a:solidFill>
                  <a:srgbClr val="334155"/>
                </a:solidFill>
              </a:rPr>
              <a:t>Python 3.12, SciPy/HiGHS MILP, Pydantic v2. Микросекундный расчет матбаланса.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Надежность вычислений: </a:t>
            </a:r>
            <a:r>
              <a:rPr b="0">
                <a:solidFill>
                  <a:srgbClr val="334155"/>
                </a:solidFill>
              </a:rPr>
              <a:t>792/792 инварианта верифицировано unit-тестами. 0 нарушений закона сохранения массы.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Интерфейс оператора: </a:t>
            </a:r>
            <a:r>
              <a:rPr b="0">
                <a:solidFill>
                  <a:srgbClr val="334155"/>
                </a:solidFill>
              </a:rPr>
              <a:t>React 19, TypeScript, Tailwind v4, Recharts Composed/Dual-Axis.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Zero-Backend Fallback: </a:t>
            </a:r>
            <a:r>
              <a:rPr b="0">
                <a:solidFill>
                  <a:srgbClr val="334155"/>
                </a:solidFill>
              </a:rPr>
              <a:t>Автономное исполнение в браузере без серверов. 100% готовность к работе онлайн.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• Мобильная оптимизация: </a:t>
            </a:r>
            <a:r>
              <a:rPr b="0">
                <a:solidFill>
                  <a:srgbClr val="334155"/>
                </a:solidFill>
              </a:rPr>
              <a:t>Touch-слайдеры, адаптивная сетка под смартфоны и планшеты.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73152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955D"/>
                </a:solidFill>
              </a:defRPr>
            </a:pPr>
            <a:r>
              <a:t>ИНСТРУМЕНТЫ ПРИНЯТИЯ РЕШЕНИЙ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✔ Мульти-ядерная оптимизация: </a:t>
            </a:r>
            <a:r>
              <a:rPr b="0">
                <a:solidFill>
                  <a:srgbClr val="334155"/>
                </a:solidFill>
              </a:rPr>
              <a:t>Переключение NASA MILP, Минэнерго РФ и Minimax Robust на лету.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✔ Интерактивное планирование: </a:t>
            </a:r>
            <a:r>
              <a:rPr b="0">
                <a:solidFill>
                  <a:srgbClr val="334155"/>
                </a:solidFill>
              </a:rPr>
              <a:t>Слайдеры отбора и бронирования с визуализацией порогов Take-or-Pay.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✔ Стресс-тестирование в 1 клик: </a:t>
            </a:r>
            <a:r>
              <a:rPr b="0">
                <a:solidFill>
                  <a:srgbClr val="334155"/>
                </a:solidFill>
              </a:rPr>
              <a:t>Мгновенное моделирование отказов и сопоставление финансовых и объемных шкал.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✔ Экспорт отчетов в Excel: </a:t>
            </a:r>
            <a:r>
              <a:rPr b="0">
                <a:solidFill>
                  <a:srgbClr val="334155"/>
                </a:solidFill>
              </a:rPr>
              <a:t>Генерация отчетов в формате XLSX со всеми годами и статьями затрат.</a:t>
            </a:r>
          </a:p>
          <a:p>
            <a:pPr>
              <a:spcAft>
                <a:spcPts val="400"/>
              </a:spcAft>
              <a:defRPr b="1" sz="950">
                <a:solidFill>
                  <a:srgbClr val="0F172A"/>
                </a:solidFill>
              </a:defRPr>
            </a:pPr>
            <a:r>
              <a:t>✔ Масштабирование (Критерий 20): </a:t>
            </a:r>
            <a:r>
              <a:rPr b="0">
                <a:solidFill>
                  <a:srgbClr val="334155"/>
                </a:solidFill>
              </a:rPr>
              <a:t>Расширение горизонта до 2045 г. + подключение произвольного «Канала F».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7315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B45309"/>
                </a:solidFill>
              </a:defRPr>
            </a:pPr>
            <a:r>
              <a:t>ЖИВОЙ ДОСТУП И ССЫЛКИ</a:t>
            </a:r>
          </a:p>
        </p:txBody>
      </p:sp>
      <p:pic>
        <p:nvPicPr>
          <p:cNvPr id="14" name="Picture 13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240280"/>
            <a:ext cx="201168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4389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zahar713713-dot.github.io/Cosmo-Hackaton-2026</a:t>
            </a:r>
          </a:p>
          <a:p>
            <a:pPr algn="ctr"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Репозиторий проекта:</a:t>
            </a:r>
            <a:br/>
            <a:r>
              <a:t>github.com/whatrushki/fuel-contur</a:t>
            </a:r>
          </a:p>
          <a:p>
            <a:pPr algn="ctr">
              <a:defRPr sz="950" b="1">
                <a:solidFill>
                  <a:srgbClr val="10955D"/>
                </a:solidFill>
              </a:defRPr>
            </a:pPr>
            <a:r>
              <a:t>Спасибо за внимание! Готовы ответить на вопросы комиссии.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