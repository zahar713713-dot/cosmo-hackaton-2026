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3268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t>СЛАЙД 1 // СТРАТЕГИЯ И АРХИТЕКТУРА</a:t>
            </a:r>
          </a:p>
          <a:p>
            <a:pPr>
              <a:defRPr sz="2100" b="1">
                <a:solidFill>
                  <a:srgbClr val="0F172A"/>
                </a:solidFill>
              </a:defRPr>
            </a:pPr>
            <a:r>
              <a:t>Топливный космоконтур 2035: Ситуационный центр ОТУ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149840" y="411480"/>
            <a:ext cx="1280160" cy="38404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1000" b="1">
                <a:solidFill>
                  <a:srgbClr val="334155"/>
                </a:solidFill>
              </a:defRPr>
            </a:pPr>
            <a:r>
              <a:t>⏱ 0:00 — 0:35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512064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08760"/>
            <a:ext cx="5120640" cy="73152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691640"/>
            <a:ext cx="4572000" cy="4480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0369A1"/>
                </a:solidFill>
              </a:defRPr>
            </a:pPr>
            <a:r>
              <a:t>🎯 Стратегическая цель программы</a:t>
            </a:r>
          </a:p>
          <a:p>
            <a:pPr>
              <a:spcAft>
                <a:spcPts val="1200"/>
              </a:spcAft>
              <a:defRPr sz="1100">
                <a:solidFill>
                  <a:srgbClr val="334155"/>
                </a:solidFill>
              </a:defRPr>
            </a:pPr>
            <a:r>
              <a:t>Гарантированное и экономически эффективное снабжение цислунарного Орбитального Топливного Узла (ОТУ) в 2035–2040 гг. для обеспечения лунной инфраструктуры, межорбитальных буксиров и пилотируемых экспедиций.</a:t>
            </a:r>
          </a:p>
          <a:p>
            <a:pPr>
              <a:defRPr sz="1200" b="1">
                <a:solidFill>
                  <a:srgbClr val="B45309"/>
                </a:solidFill>
              </a:defRPr>
            </a:pPr>
            <a:r>
              <a:t>⚠️ Ключевые барьеры и директивы ТЗ:</a:t>
            </a:r>
          </a:p>
          <a:p>
            <a:pPr>
              <a:spcAft>
                <a:spcPts val="400"/>
              </a:spcAft>
              <a:defRPr sz="1050">
                <a:solidFill>
                  <a:srgbClr val="334155"/>
                </a:solidFill>
              </a:defRPr>
            </a:pPr>
            <a:r>
              <a:t>• Высокая стоимость доставки Земли: 6.2–8.9 млн у.е./т при плече планирования до 12 месяцев.</a:t>
            </a:r>
          </a:p>
          <a:p>
            <a:pPr>
              <a:spcAft>
                <a:spcPts val="400"/>
              </a:spcAft>
              <a:defRPr sz="1050">
                <a:solidFill>
                  <a:srgbClr val="334155"/>
                </a:solidFill>
              </a:defRPr>
            </a:pPr>
            <a:r>
              <a:t>• Директивный потолок CAPEX: Строго &lt;= 1 800 млн у.е. до конца 2037 г. и &lt;= 2 800 млн суммарно.</a:t>
            </a:r>
          </a:p>
          <a:p>
            <a:pPr>
              <a:spcAft>
                <a:spcPts val="400"/>
              </a:spcAft>
              <a:defRPr sz="1050">
                <a:solidFill>
                  <a:srgbClr val="334155"/>
                </a:solidFill>
              </a:defRPr>
            </a:pPr>
            <a:r>
              <a:t>• Риск штрафов Take-or-Pay: Оплата 70% от забронированного объема при любом недоборе.</a:t>
            </a:r>
          </a:p>
          <a:p>
            <a:pPr>
              <a:spcAft>
                <a:spcPts val="400"/>
              </a:spcAft>
              <a:defRPr sz="1050">
                <a:solidFill>
                  <a:srgbClr val="334155"/>
                </a:solidFill>
              </a:defRPr>
            </a:pPr>
            <a:r>
              <a:t>• Безусловная безопасность: Критический SLA &gt;= 99.0% и неснижаемый 45-дневный запас топлива.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08760"/>
            <a:ext cx="521208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217920" y="1508760"/>
            <a:ext cx="5212080" cy="73152"/>
          </a:xfrm>
          <a:prstGeom prst="roundRect">
            <a:avLst/>
          </a:prstGeom>
          <a:solidFill>
            <a:srgbClr val="1095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691640"/>
            <a:ext cx="4663440" cy="4480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10955D"/>
                </a:solidFill>
              </a:defRPr>
            </a:pPr>
            <a:r>
              <a:t>🏛️ Инженерный стек и надежность решения</a:t>
            </a:r>
          </a:p>
          <a:p>
            <a:pPr>
              <a:spcBef>
                <a:spcPts val="600"/>
              </a:spcBef>
              <a:defRPr sz="1100" b="1">
                <a:solidFill>
                  <a:srgbClr val="0F172A"/>
                </a:solidFill>
              </a:defRPr>
            </a:pPr>
            <a:r>
              <a:t>Python 3.12 + Pydantic v2</a:t>
            </a:r>
          </a:p>
          <a:p>
            <a:pPr>
              <a:spcAft>
                <a:spcPts val="200"/>
              </a:spcAft>
              <a:defRPr sz="1000">
                <a:solidFill>
                  <a:srgbClr val="334155"/>
                </a:solidFill>
              </a:defRPr>
            </a:pPr>
            <a:r>
              <a:t>Строго типизированное математическое ядро. Детерминированный расчет без эвристик и скрытых допущений.</a:t>
            </a:r>
          </a:p>
          <a:p>
            <a:pPr>
              <a:spcBef>
                <a:spcPts val="600"/>
              </a:spcBef>
              <a:defRPr sz="1100" b="1">
                <a:solidFill>
                  <a:srgbClr val="0F172A"/>
                </a:solidFill>
              </a:defRPr>
            </a:pPr>
            <a:r>
              <a:t>FastAPI + REST API</a:t>
            </a:r>
          </a:p>
          <a:p>
            <a:pPr>
              <a:spcAft>
                <a:spcPts val="200"/>
              </a:spcAft>
              <a:defRPr sz="1000">
                <a:solidFill>
                  <a:srgbClr val="334155"/>
                </a:solidFill>
              </a:defRPr>
            </a:pPr>
            <a:r>
              <a:t>Высокоскоростной API-слой с автоматической валидацией параметров и русской локализацией ошибок.</a:t>
            </a:r>
          </a:p>
          <a:p>
            <a:pPr>
              <a:spcBef>
                <a:spcPts val="600"/>
              </a:spcBef>
              <a:defRPr sz="1100" b="1">
                <a:solidFill>
                  <a:srgbClr val="0F172A"/>
                </a:solidFill>
              </a:defRPr>
            </a:pPr>
            <a:r>
              <a:t>React 19 + TypeScript + Vite</a:t>
            </a:r>
          </a:p>
          <a:p>
            <a:pPr>
              <a:spcAft>
                <a:spcPts val="200"/>
              </a:spcAft>
              <a:defRPr sz="1000">
                <a:solidFill>
                  <a:srgbClr val="334155"/>
                </a:solidFill>
              </a:defRPr>
            </a:pPr>
            <a:r>
              <a:t>Интерактивное рабочее место оператора с реактивным откликом (&lt; 200 мс) и наглядными графиками Recharts.</a:t>
            </a:r>
          </a:p>
          <a:p>
            <a:pPr>
              <a:spcBef>
                <a:spcPts val="600"/>
              </a:spcBef>
              <a:defRPr sz="1100" b="1">
                <a:solidFill>
                  <a:srgbClr val="0F172A"/>
                </a:solidFill>
              </a:defRPr>
            </a:pPr>
            <a:r>
              <a:t>38 Автоматических тестов pytest</a:t>
            </a:r>
          </a:p>
          <a:p>
            <a:pPr>
              <a:spcAft>
                <a:spcPts val="200"/>
              </a:spcAft>
              <a:defRPr sz="1000">
                <a:solidFill>
                  <a:srgbClr val="334155"/>
                </a:solidFill>
              </a:defRPr>
            </a:pPr>
            <a:r>
              <a:t>100% покрытие физического баланса: контрольный пример ТЗ проверен с точностью 10^-4 т.</a:t>
            </a:r>
          </a:p>
          <a:p>
            <a:pPr>
              <a:spcBef>
                <a:spcPts val="600"/>
              </a:spcBef>
              <a:defRPr sz="1100" b="1">
                <a:solidFill>
                  <a:srgbClr val="0F172A"/>
                </a:solidFill>
              </a:defRPr>
            </a:pPr>
            <a:r>
              <a:t>Мульти-ядерная архитектура</a:t>
            </a:r>
          </a:p>
          <a:p>
            <a:pPr>
              <a:spcAft>
                <a:spcPts val="200"/>
              </a:spcAft>
              <a:defRPr sz="1000">
                <a:solidFill>
                  <a:srgbClr val="334155"/>
                </a:solidFill>
              </a:defRPr>
            </a:pPr>
            <a:r>
              <a:t>Поддержка 3 алгоритмов (Регламент, NASA MILP, Minimax) с возможностью мгновенного переключения.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3268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t>СЛАЙД 2 // ФИЗИКА УЗЛА И ВЕРИФИКАЦИЯ</a:t>
            </a:r>
          </a:p>
          <a:p>
            <a:pPr>
              <a:defRPr sz="2100" b="1">
                <a:solidFill>
                  <a:srgbClr val="0F172A"/>
                </a:solidFill>
              </a:defRPr>
            </a:pPr>
            <a:r>
              <a:t>Материальный баланс и сходимость контрольного примера 2035 года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149840" y="411480"/>
            <a:ext cx="1280160" cy="38404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1000" b="1">
                <a:solidFill>
                  <a:srgbClr val="334155"/>
                </a:solidFill>
              </a:defRPr>
            </a:pPr>
            <a:r>
              <a:t>⏱ 0:35 — 1:10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512064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08760"/>
            <a:ext cx="5120640" cy="73152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691640"/>
            <a:ext cx="4572000" cy="4480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369A1"/>
                </a:solidFill>
              </a:defRPr>
            </a:pPr>
            <a:r>
              <a:t>⚖️ Формула сохранения физического баланса</a:t>
            </a:r>
          </a:p>
          <a:p>
            <a:pPr>
              <a:spcBef>
                <a:spcPts val="400"/>
              </a:spcBef>
              <a:spcAft>
                <a:spcPts val="1000"/>
              </a:spcAft>
              <a:defRPr sz="1100" b="1">
                <a:solidFill>
                  <a:srgbClr val="0F172A"/>
                </a:solidFill>
              </a:defRPr>
            </a:pPr>
            <a:r>
              <a:t>End_Stock = Start_Stock + Gross_In - Losses - Served</a:t>
            </a:r>
          </a:p>
          <a:p>
            <a:pPr>
              <a:spcBef>
                <a:spcPts val="400"/>
              </a:spcBef>
              <a:defRPr sz="1100" b="1">
                <a:solidFill>
                  <a:srgbClr val="0F172A"/>
                </a:solidFill>
              </a:defRPr>
            </a:pPr>
            <a:r>
              <a:t>• Потери Throughput (4.5% / 1.2%):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</a:defRPr>
            </a:pPr>
            <a:r>
              <a:t>   Начисляются строго 1 раз на валовый приход топлива. Повторные потери на остаток в баке исключены.</a:t>
            </a:r>
          </a:p>
          <a:p>
            <a:pPr>
              <a:spcBef>
                <a:spcPts val="400"/>
              </a:spcBef>
              <a:defRPr sz="1100" b="1">
                <a:solidFill>
                  <a:srgbClr val="0F172A"/>
                </a:solidFill>
              </a:defRPr>
            </a:pPr>
            <a:r>
              <a:t>• Физическая неотрицательность остатков: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</a:defRPr>
            </a:pPr>
            <a:r>
              <a:t>   Остаток строго &gt;= 0. При нехватке топлива дефицит изолируется в метрику Unmet Demand (недопоставка).</a:t>
            </a:r>
          </a:p>
          <a:p>
            <a:pPr>
              <a:spcBef>
                <a:spcPts val="400"/>
              </a:spcBef>
              <a:defRPr sz="1100" b="1">
                <a:solidFill>
                  <a:srgbClr val="0F172A"/>
                </a:solidFill>
              </a:defRPr>
            </a:pPr>
            <a:r>
              <a:t>• Приоритет критического спроса: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</a:defRPr>
            </a:pPr>
            <a:r>
              <a:t>   Пилотируемые экипажи обеспечиваются первыми: Served_Crit = min(Served, Demand_Crit).</a:t>
            </a:r>
          </a:p>
          <a:p>
            <a:pPr>
              <a:spcBef>
                <a:spcPts val="400"/>
              </a:spcBef>
              <a:defRPr sz="1100" b="1">
                <a:solidFill>
                  <a:srgbClr val="0F172A"/>
                </a:solidFill>
              </a:defRPr>
            </a:pPr>
            <a:r>
              <a:t>• Защита Take-or-Pay: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</a:defRPr>
            </a:pPr>
            <a:r>
              <a:t>   Оплачиваемый объем = max(Order, 0.70 * Reserved). Штраф за недобор начисляется прозрачно.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08760"/>
            <a:ext cx="521208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217920" y="1508760"/>
            <a:ext cx="5212080" cy="73152"/>
          </a:xfrm>
          <a:prstGeom prst="roundRect">
            <a:avLst/>
          </a:prstGeom>
          <a:solidFill>
            <a:srgbClr val="1095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691640"/>
            <a:ext cx="466344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10955D"/>
                </a:solidFill>
              </a:defRPr>
            </a:pPr>
            <a:r>
              <a:t>🔬 Сходимость контрольного примера 2035 г.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400800" y="2240280"/>
          <a:ext cx="484632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914400"/>
                <a:gridCol w="914400"/>
                <a:gridCol w="1005840"/>
              </a:tblGrid>
              <a:tr h="444137">
                <a:tc>
                  <a:txBody>
                    <a:bodyPr/>
                    <a:lstStyle/>
                    <a:p>
                      <a:pPr algn="l"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Параметр проверки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ТЗ Регламент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Наше ядро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Дельта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44137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Начальный запас (45 дн.)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12.3288 т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12.3288 т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0F172A"/>
                          </a:solidFill>
                        </a:defRPr>
                      </a:pPr>
                      <a:r>
                        <a:t>0.0000 т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44137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Заказ Earth-Core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95.0000 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95.0000 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0F172A"/>
                          </a:solidFill>
                        </a:defRPr>
                      </a:pPr>
                      <a:r>
                        <a:t>0.0000 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4137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Потери валовые (4.5%)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4.2750 т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4.2750 т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0F172A"/>
                          </a:solidFill>
                        </a:defRPr>
                      </a:pPr>
                      <a:r>
                        <a:t>0.0000 т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44137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Полезный приход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90.7250 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90.7250 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0F172A"/>
                          </a:solidFill>
                        </a:defRPr>
                      </a:pPr>
                      <a:r>
                        <a:t>0.0000 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4137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Отпуск на спрос (в т.ч. крит 80)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100.0000 т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100.0000 т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0F172A"/>
                          </a:solidFill>
                        </a:defRPr>
                      </a:pPr>
                      <a:r>
                        <a:t>0.0000 т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44138">
                <a:tc>
                  <a:txBody>
                    <a:bodyPr/>
                    <a:lstStyle/>
                    <a:p>
                      <a:pPr algn="l">
                        <a:defRPr sz="950" b="1">
                          <a:solidFill>
                            <a:srgbClr val="0F172A"/>
                          </a:solidFill>
                        </a:defRPr>
                      </a:pPr>
                      <a:r>
                        <a:t>Конечный остаток на 31.12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0F172A"/>
                          </a:solidFill>
                        </a:defRPr>
                      </a:pPr>
                      <a:r>
                        <a:t>3.0538 т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0F172A"/>
                          </a:solidFill>
                        </a:defRPr>
                      </a:pPr>
                      <a:r>
                        <a:t>3.0538 т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10955D"/>
                          </a:solidFill>
                        </a:defRPr>
                      </a:pPr>
                      <a:r>
                        <a:t>0.0000 т ✅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492240" y="5577840"/>
            <a:ext cx="4663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10955D"/>
                </a:solidFill>
              </a:defRPr>
            </a:pPr>
            <a:r>
              <a:t>✅ 100% совпадение с эталоном ТЗ подтверждено автоматическим тестом test_balance.py (погрешность &lt; 10^-4 т).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3268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t>СЛАЙД 3 // УПРАВЛЕНИЕ CAPEX И ПРОЕКТАМИ</a:t>
            </a:r>
          </a:p>
          <a:p>
            <a:pPr>
              <a:defRPr sz="2100" b="1">
                <a:solidFill>
                  <a:srgbClr val="0F172A"/>
                </a:solidFill>
              </a:defRPr>
            </a:pPr>
            <a:r>
              <a:t>Инвестиционная стратегия: Трехшлюзовая модель (Gate-подход)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149840" y="411480"/>
            <a:ext cx="1280160" cy="38404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1000" b="1">
                <a:solidFill>
                  <a:srgbClr val="334155"/>
                </a:solidFill>
              </a:defRPr>
            </a:pPr>
            <a:r>
              <a:t>⏱ 1:10 — 1:45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3328416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08760"/>
            <a:ext cx="3328416" cy="73152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91640"/>
            <a:ext cx="2962656" cy="4480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369A1"/>
                </a:solidFill>
              </a:defRPr>
            </a:pPr>
            <a:r>
              <a:t>ШЛЮЗ 01: МОДЕРНИЗАЦИЯ ZBO</a:t>
            </a:r>
          </a:p>
          <a:p>
            <a:pPr>
              <a:spcAft>
                <a:spcPts val="800"/>
              </a:spcAft>
              <a:defRPr sz="1800" b="1">
                <a:solidFill>
                  <a:srgbClr val="0F172A"/>
                </a:solidFill>
              </a:defRPr>
            </a:pPr>
            <a:r>
              <a:t>CAPEX: 180 млн у.е.</a:t>
            </a:r>
          </a:p>
          <a:p>
            <a:pPr>
              <a:spcAft>
                <a:spcPts val="800"/>
              </a:spcAft>
              <a:defRPr sz="1000" b="1">
                <a:solidFill>
                  <a:srgbClr val="10955D"/>
                </a:solidFill>
              </a:defRPr>
            </a:pPr>
            <a:r>
              <a:t>Статус: Обязательно к реализации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</a:defRPr>
            </a:pPr>
            <a:r>
              <a:t>• Год ввода: 2036 г. (транш 180 млн).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</a:defRPr>
            </a:pPr>
            <a:r>
              <a:t>• OPEX обслуживания: +12 млн у.е./год.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</a:defRPr>
            </a:pPr>
            <a:r>
              <a:t>• Эффект 1: Снижение потерь с 4.5% до 1.2%.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</a:defRPr>
            </a:pPr>
            <a:r>
              <a:t>• Эффект 2: Расширение емкости баков с 70 до 120 тонн.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</a:defRPr>
            </a:pPr>
            <a:r>
              <a:t>• Обоснование: Без ZBO невозможно пройти обязательный стресс-тест ТЗ (норма потерь &lt;= 2.0%).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25696" y="1508760"/>
            <a:ext cx="3328416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425696" y="1508760"/>
            <a:ext cx="3328416" cy="73152"/>
          </a:xfrm>
          <a:prstGeom prst="roundRect">
            <a:avLst/>
          </a:prstGeom>
          <a:solidFill>
            <a:srgbClr val="1095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08576" y="1691640"/>
            <a:ext cx="2962656" cy="4480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0955D"/>
                </a:solidFill>
              </a:defRPr>
            </a:pPr>
            <a:r>
              <a:t>ШЛЮЗ 02: LUNAR-ISRU (ЛУНА)</a:t>
            </a:r>
          </a:p>
          <a:p>
            <a:pPr>
              <a:spcAft>
                <a:spcPts val="800"/>
              </a:spcAft>
              <a:defRPr sz="1800" b="1">
                <a:solidFill>
                  <a:srgbClr val="0F172A"/>
                </a:solidFill>
              </a:defRPr>
            </a:pPr>
            <a:r>
              <a:t>CAPEX: 1 250 млн у.е.</a:t>
            </a:r>
          </a:p>
          <a:p>
            <a:pPr>
              <a:spcAft>
                <a:spcPts val="800"/>
              </a:spcAft>
              <a:defRPr sz="1000" b="1">
                <a:solidFill>
                  <a:srgbClr val="10955D"/>
                </a:solidFill>
              </a:defRPr>
            </a:pPr>
            <a:r>
              <a:t>Статус: Главный драйвер окупаемости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</a:defRPr>
            </a:pPr>
            <a:r>
              <a:t>• Транши: 250 (35 г.) + 500 (36 г.) + 500 (37 г.).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</a:defRPr>
            </a:pPr>
            <a:r>
              <a:t>• Ввод в строй: 2038 год.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</a:defRPr>
            </a:pPr>
            <a:r>
              <a:t>• Мощность: до 120 т/год по тарифу 3.0 млн у.е./т.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</a:defRPr>
            </a:pPr>
            <a:r>
              <a:t>• 0 млн у.е. бронирования (нет Take-or-Pay).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</a:defRPr>
            </a:pPr>
            <a:r>
              <a:t>• CAPEX до 2037 г.: 1 430 млн у.е. (запас +370 млн у.е. до лимита 1 800 млн).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</a:defRPr>
            </a:pPr>
            <a:r>
              <a:t>• Полная окупаемость инвестиций к 2040 году.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19872" y="1508760"/>
            <a:ext cx="3328416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119872" y="1508760"/>
            <a:ext cx="3328416" cy="73152"/>
          </a:xfrm>
          <a:prstGeom prst="round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02752" y="1691640"/>
            <a:ext cx="2962656" cy="4480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B45309"/>
                </a:solidFill>
              </a:defRPr>
            </a:pPr>
            <a:r>
              <a:t>ШЛЮЗ 03: ОПЦИОН EARTH-NEW</a:t>
            </a:r>
          </a:p>
          <a:p>
            <a:pPr>
              <a:spcAft>
                <a:spcPts val="800"/>
              </a:spcAft>
              <a:defRPr sz="1800" b="1">
                <a:solidFill>
                  <a:srgbClr val="0F172A"/>
                </a:solidFill>
              </a:defRPr>
            </a:pPr>
            <a:r>
              <a:t>CAPEX: 360 млн у.е.</a:t>
            </a:r>
          </a:p>
          <a:p>
            <a:pPr>
              <a:spcAft>
                <a:spcPts val="800"/>
              </a:spcAft>
              <a:defRPr sz="1000" b="1">
                <a:solidFill>
                  <a:srgbClr val="B45309"/>
                </a:solidFill>
              </a:defRPr>
            </a:pPr>
            <a:r>
              <a:t>Статус: Резервный опцион (Заморожен)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</a:defRPr>
            </a:pPr>
            <a:r>
              <a:t>• Опцион выкупа: 90 млн у.е. (2035 г.).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</a:defRPr>
            </a:pPr>
            <a:r>
              <a:t>• Финальный ввод: 270 млн у.е. (2036 г.).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</a:defRPr>
            </a:pPr>
            <a:r>
              <a:t>• Мощность: 130 т/год по тарифу 7.1 млн у.е./т.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</a:defRPr>
            </a:pPr>
            <a:r>
              <a:t>• Обоснование решения: В базовом плане НЕ активируется ввиду достатка лунного ISRU.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</a:defRPr>
            </a:pPr>
            <a:r>
              <a:t>• Служит страховкой на случай задержки лунной базы свыше 2 лет.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3268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t>СЛАЙД 4 // МУЛЬТИ-ЯДЕРНАЯ ОПТИМИЗАЦИЯ</a:t>
            </a:r>
          </a:p>
          <a:p>
            <a:pPr>
              <a:defRPr sz="2100" b="1">
                <a:solidFill>
                  <a:srgbClr val="0F172A"/>
                </a:solidFill>
              </a:defRPr>
            </a:pPr>
            <a:r>
              <a:t>Сравнительный анализ алгоритмов: Экономия 1.096 млрд у.е.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149840" y="411480"/>
            <a:ext cx="1280160" cy="38404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1000" b="1">
                <a:solidFill>
                  <a:srgbClr val="334155"/>
                </a:solidFill>
              </a:defRPr>
            </a:pPr>
            <a:r>
              <a:t>⏱ 1:45 — 2:30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3383280" cy="1051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08760"/>
            <a:ext cx="3383280" cy="73152"/>
          </a:xfrm>
          <a:prstGeom prst="roundRect">
            <a:avLst/>
          </a:prstGeom>
          <a:solidFill>
            <a:srgbClr val="1095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73352"/>
            <a:ext cx="301752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0955D"/>
                </a:solidFill>
              </a:defRPr>
            </a:pPr>
            <a:r>
              <a:t>-1 096.8 млн</a:t>
            </a:r>
          </a:p>
          <a:p>
            <a:pPr>
              <a:defRPr sz="1000" b="1">
                <a:solidFill>
                  <a:srgbClr val="0F172A"/>
                </a:solidFill>
              </a:defRPr>
            </a:pPr>
            <a:r>
              <a:t>Экономия бюджета NPV LCC (-11.81%)</a:t>
            </a:r>
          </a:p>
          <a:p>
            <a:pPr>
              <a:defRPr sz="900">
                <a:solidFill>
                  <a:srgbClr val="64748B"/>
                </a:solidFill>
              </a:defRPr>
            </a:pPr>
            <a:r>
              <a:t>Целевое ядро NASA MILP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508760"/>
            <a:ext cx="3383280" cy="1051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389120" y="1508760"/>
            <a:ext cx="3383280" cy="73152"/>
          </a:xfrm>
          <a:prstGeom prst="roundRect">
            <a:avLst/>
          </a:prstGeom>
          <a:solidFill>
            <a:srgbClr val="1095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673352"/>
            <a:ext cx="301752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0955D"/>
                </a:solidFill>
              </a:defRPr>
            </a:pPr>
            <a:r>
              <a:t>0.0 млн у.е.</a:t>
            </a:r>
          </a:p>
          <a:p>
            <a:pPr>
              <a:defRPr sz="1000" b="1">
                <a:solidFill>
                  <a:srgbClr val="0F172A"/>
                </a:solidFill>
              </a:defRPr>
            </a:pPr>
            <a:r>
              <a:t>Штрафы Take-or-Pay ликвидированы</a:t>
            </a:r>
          </a:p>
          <a:p>
            <a:pPr>
              <a:defRPr sz="900">
                <a:solidFill>
                  <a:srgbClr val="64748B"/>
                </a:solidFill>
              </a:defRPr>
            </a:pPr>
            <a:r>
              <a:t>Заказ строго равен бронированию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508760"/>
            <a:ext cx="3383280" cy="1051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046720" y="1508760"/>
            <a:ext cx="3383280" cy="73152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0" y="1673352"/>
            <a:ext cx="301752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284C7"/>
                </a:solidFill>
              </a:defRPr>
            </a:pPr>
            <a:r>
              <a:t>100.0%</a:t>
            </a:r>
          </a:p>
          <a:p>
            <a:pPr>
              <a:defRPr sz="1000" b="1">
                <a:solidFill>
                  <a:srgbClr val="0F172A"/>
                </a:solidFill>
              </a:defRPr>
            </a:pPr>
            <a:r>
              <a:t>Критический SLA пилотируемых миссий</a:t>
            </a:r>
          </a:p>
          <a:p>
            <a:pPr>
              <a:defRPr sz="900">
                <a:solidFill>
                  <a:srgbClr val="64748B"/>
                </a:solidFill>
              </a:defRPr>
            </a:pPr>
            <a:r>
              <a:t>Общий SLA системы 99.8%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731520" y="2788920"/>
          <a:ext cx="10725912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4952"/>
                <a:gridCol w="2560320"/>
                <a:gridCol w="2560320"/>
                <a:gridCol w="2560320"/>
              </a:tblGrid>
              <a:tr h="411480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Показатель эффективности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ТЗ Регламент (Baseline)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NASA MILP (Целевое) ★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Minimax Robust (Вальд)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Критический SLA (пилотируемый)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10955D"/>
                          </a:solidFill>
                        </a:defRPr>
                      </a:pPr>
                      <a:r>
                        <a:t>100.0%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Совокупный SLA программы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98.8%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10955D"/>
                          </a:solidFill>
                        </a:defRPr>
                      </a:pPr>
                      <a:r>
                        <a:t>99.8%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99.5%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Недисконтированный LCC (2035–2040)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11 483.0 млн у.е.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10955D"/>
                          </a:solidFill>
                        </a:defRPr>
                      </a:pPr>
                      <a:r>
                        <a:t>10 112.4 млн у.е.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11 950.0 млн у.е.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Дисконтированный LCC (NPV r=8%)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9 284.7 млн у.е.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10955D"/>
                          </a:solidFill>
                        </a:defRPr>
                      </a:pPr>
                      <a:r>
                        <a:t>8 187.9 млн у.е.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9 540.0 млн у.е.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Экономия бюджета (NPV дельта)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0.0 млн (База)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10955D"/>
                          </a:solidFill>
                        </a:defRPr>
                      </a:pPr>
                      <a:r>
                        <a:t>-1 096.8 млн у.е. (-11.81%) ★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+255.3 млн (+2.7% запас)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Штрафы за недобор Take-or-Pay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147.2 млн у.е.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10955D"/>
                          </a:solidFill>
                        </a:defRPr>
                      </a:pPr>
                      <a:r>
                        <a:t>0.0 млн у.е. (100% защита)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0.0 млн у.е.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Логика формирования заказов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Фиксированные квоты ТЗ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10955D"/>
                          </a:solidFill>
                        </a:defRPr>
                      </a:pPr>
                      <a:r>
                        <a:t>MILP оптимизация потоков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Худший сценарий (буфер 60 дн)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731520" y="6217920"/>
            <a:ext cx="1072591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F172A"/>
                </a:solidFill>
              </a:defRPr>
            </a:pPr>
            <a:r>
              <a:t>💡 Вывод: Ядро NASA MILP превосходит базовый регламент по всем параметрам, высвобождая более 1.09 млрд у.е. при нулевом риске.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3268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t>СЛАЙД 5 // ОПЕРАЦИОННЫЙ КОНТУР</a:t>
            </a:r>
          </a:p>
          <a:p>
            <a:pPr>
              <a:defRPr sz="2100" b="1">
                <a:solidFill>
                  <a:srgbClr val="0F172A"/>
                </a:solidFill>
              </a:defRPr>
            </a:pPr>
            <a:r>
              <a:t>Интерфейс ситуационного центра и план демонстрации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149840" y="411480"/>
            <a:ext cx="1280160" cy="38404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1000" b="1">
                <a:solidFill>
                  <a:srgbClr val="334155"/>
                </a:solidFill>
              </a:defRPr>
            </a:pPr>
            <a:r>
              <a:t>⏱ 2:30 — 3:05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512064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08760"/>
            <a:ext cx="5120640" cy="73152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691640"/>
            <a:ext cx="4572000" cy="4480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369A1"/>
                </a:solidFill>
              </a:defRPr>
            </a:pPr>
            <a:r>
              <a:t>🖥️ Функционал веб-приложения оператора</a:t>
            </a:r>
          </a:p>
          <a:p>
            <a:pPr>
              <a:spcBef>
                <a:spcPts val="500"/>
              </a:spcBef>
              <a:defRPr sz="1100" b="1">
                <a:solidFill>
                  <a:srgbClr val="0F172A"/>
                </a:solidFill>
              </a:defRPr>
            </a:pPr>
            <a:r>
              <a:t>• Селектор алгоритмов:</a:t>
            </a:r>
          </a:p>
          <a:p>
            <a:pPr>
              <a:spcAft>
                <a:spcPts val="200"/>
              </a:spcAft>
              <a:defRPr sz="1000">
                <a:solidFill>
                  <a:srgbClr val="334155"/>
                </a:solidFill>
              </a:defRPr>
            </a:pPr>
            <a:r>
              <a:t>   Переключение между Регламентом, NASA MILP и Минимаксом с динамическим пересчетом за ~200 мс.</a:t>
            </a:r>
          </a:p>
          <a:p>
            <a:pPr>
              <a:spcBef>
                <a:spcPts val="500"/>
              </a:spcBef>
              <a:defRPr sz="1100" b="1">
                <a:solidFill>
                  <a:srgbClr val="0F172A"/>
                </a:solidFill>
              </a:defRPr>
            </a:pPr>
            <a:r>
              <a:t>• Светофор 10 ограничений ТЗ:</a:t>
            </a:r>
          </a:p>
          <a:p>
            <a:pPr>
              <a:spcAft>
                <a:spcPts val="200"/>
              </a:spcAft>
              <a:defRPr sz="1000">
                <a:solidFill>
                  <a:srgbClr val="334155"/>
                </a:solidFill>
              </a:defRPr>
            </a:pPr>
            <a:r>
              <a:t>   Мгновенные алерты SLA &gt;= 99%, лимитов CAPEX 1800/2800 млн, емкости баков 120 т и 45-дневного буфера.</a:t>
            </a:r>
          </a:p>
          <a:p>
            <a:pPr>
              <a:spcBef>
                <a:spcPts val="500"/>
              </a:spcBef>
              <a:defRPr sz="1100" b="1">
                <a:solidFill>
                  <a:srgbClr val="0F172A"/>
                </a:solidFill>
              </a:defRPr>
            </a:pPr>
            <a:r>
              <a:t>• Слайдеры отбора и бронирования:</a:t>
            </a:r>
          </a:p>
          <a:p>
            <a:pPr>
              <a:spcAft>
                <a:spcPts val="200"/>
              </a:spcAft>
              <a:defRPr sz="1000">
                <a:solidFill>
                  <a:srgbClr val="334155"/>
                </a:solidFill>
              </a:defRPr>
            </a:pPr>
            <a:r>
              <a:t>   Интерактивное управление 5 каналами с динамическим контролем порога Take-or-Pay 70%.</a:t>
            </a:r>
          </a:p>
          <a:p>
            <a:pPr>
              <a:spcBef>
                <a:spcPts val="500"/>
              </a:spcBef>
              <a:defRPr sz="1100" b="1">
                <a:solidFill>
                  <a:srgbClr val="0F172A"/>
                </a:solidFill>
              </a:defRPr>
            </a:pPr>
            <a:r>
              <a:t>• 4 Интерактивных графика Recharts:</a:t>
            </a:r>
          </a:p>
          <a:p>
            <a:pPr>
              <a:spcAft>
                <a:spcPts val="200"/>
              </a:spcAft>
              <a:defRPr sz="1000">
                <a:solidFill>
                  <a:srgbClr val="334155"/>
                </a:solidFill>
              </a:defRPr>
            </a:pPr>
            <a:r>
              <a:t>   Траектория остатка в баке, структура LCC, материальный баланс и дельта стресс-теста.</a:t>
            </a:r>
          </a:p>
          <a:p>
            <a:pPr>
              <a:spcBef>
                <a:spcPts val="500"/>
              </a:spcBef>
              <a:defRPr sz="1100" b="1">
                <a:solidFill>
                  <a:srgbClr val="0F172A"/>
                </a:solidFill>
              </a:defRPr>
            </a:pPr>
            <a:r>
              <a:t>• Экспорт аудиторского отчета:</a:t>
            </a:r>
          </a:p>
          <a:p>
            <a:pPr>
              <a:spcAft>
                <a:spcPts val="200"/>
              </a:spcAft>
              <a:defRPr sz="1000">
                <a:solidFill>
                  <a:srgbClr val="334155"/>
                </a:solidFill>
              </a:defRPr>
            </a:pPr>
            <a:r>
              <a:t>   Скачивание полной книги XLSX на 7 листов с формулами и единицами измерения в 1 клик.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08760"/>
            <a:ext cx="521208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217920" y="1508760"/>
            <a:ext cx="5212080" cy="73152"/>
          </a:xfrm>
          <a:prstGeom prst="roundRect">
            <a:avLst/>
          </a:prstGeom>
          <a:solidFill>
            <a:srgbClr val="1095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691640"/>
            <a:ext cx="4663440" cy="4480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10955D"/>
                </a:solidFill>
              </a:defRPr>
            </a:pPr>
            <a:r>
              <a:t>⚡ План показа живой системы на стенде</a:t>
            </a:r>
          </a:p>
          <a:p>
            <a:pPr>
              <a:spcBef>
                <a:spcPts val="600"/>
              </a:spcBef>
              <a:defRPr sz="1100" b="1">
                <a:solidFill>
                  <a:srgbClr val="0F172A"/>
                </a:solidFill>
              </a:defRPr>
            </a:pPr>
            <a:r>
              <a:t>Шаг 1: Базовый режим NASA MILP</a:t>
            </a:r>
          </a:p>
          <a:p>
            <a:pPr>
              <a:spcAft>
                <a:spcPts val="200"/>
              </a:spcAft>
              <a:defRPr sz="1000">
                <a:solidFill>
                  <a:srgbClr val="334155"/>
                </a:solidFill>
              </a:defRPr>
            </a:pPr>
            <a:r>
              <a:t>Демонстрация нулевых штрафов Take-or-Pay, NPV 8.188 млрд у.е. и зеленого статуса всех 10 лимитов.</a:t>
            </a:r>
          </a:p>
          <a:p>
            <a:pPr>
              <a:spcBef>
                <a:spcPts val="600"/>
              </a:spcBef>
              <a:defRPr sz="1100" b="1">
                <a:solidFill>
                  <a:srgbClr val="0F172A"/>
                </a:solidFill>
              </a:defRPr>
            </a:pPr>
            <a:r>
              <a:t>Шаг 2: Сравнение с ТЗ Регламентом</a:t>
            </a:r>
          </a:p>
          <a:p>
            <a:pPr>
              <a:spcAft>
                <a:spcPts val="200"/>
              </a:spcAft>
              <a:defRPr sz="1000">
                <a:solidFill>
                  <a:srgbClr val="334155"/>
                </a:solidFill>
              </a:defRPr>
            </a:pPr>
            <a:r>
              <a:t>Включение ядра 'ТЗ Регламент': визуализация падения эффективности на 1.096 млрд у.е. из-за неоптимального отбора.</a:t>
            </a:r>
          </a:p>
          <a:p>
            <a:pPr>
              <a:spcBef>
                <a:spcPts val="600"/>
              </a:spcBef>
              <a:defRPr sz="1100" b="1">
                <a:solidFill>
                  <a:srgbClr val="0F172A"/>
                </a:solidFill>
              </a:defRPr>
            </a:pPr>
            <a:r>
              <a:t>Шаг 3: Активация стресс-теста ТЗ</a:t>
            </a:r>
          </a:p>
          <a:p>
            <a:pPr>
              <a:spcAft>
                <a:spcPts val="200"/>
              </a:spcAft>
              <a:defRPr sz="1000">
                <a:solidFill>
                  <a:srgbClr val="334155"/>
                </a:solidFill>
              </a:defRPr>
            </a:pPr>
            <a:r>
              <a:t>Нажатие кнопки 'Обязательный стресс-тест': рост спроса +15%, срез ISRU, подтверждение потерь 1.2% (норма &lt;= 2.0%).</a:t>
            </a:r>
          </a:p>
          <a:p>
            <a:pPr>
              <a:spcBef>
                <a:spcPts val="600"/>
              </a:spcBef>
              <a:defRPr sz="1100" b="1">
                <a:solidFill>
                  <a:srgbClr val="0F172A"/>
                </a:solidFill>
              </a:defRPr>
            </a:pPr>
            <a:r>
              <a:t>Шаг 4: Тест отказа ZBO</a:t>
            </a:r>
          </a:p>
          <a:p>
            <a:pPr>
              <a:spcAft>
                <a:spcPts val="200"/>
              </a:spcAft>
              <a:defRPr sz="1000">
                <a:solidFill>
                  <a:srgbClr val="334155"/>
                </a:solidFill>
              </a:defRPr>
            </a:pPr>
            <a:r>
              <a:t>Отключение ZBO: демонстрация мгновенного срабатывания красного алерта нарушения емкости и потерь.</a:t>
            </a:r>
          </a:p>
          <a:p>
            <a:pPr>
              <a:spcBef>
                <a:spcPts val="600"/>
              </a:spcBef>
              <a:defRPr sz="1100" b="1">
                <a:solidFill>
                  <a:srgbClr val="0F172A"/>
                </a:solidFill>
              </a:defRPr>
            </a:pPr>
            <a:r>
              <a:t>Шаг 5: Экспорт в Excel</a:t>
            </a:r>
          </a:p>
          <a:p>
            <a:pPr>
              <a:spcAft>
                <a:spcPts val="200"/>
              </a:spcAft>
              <a:defRPr sz="1000">
                <a:solidFill>
                  <a:srgbClr val="334155"/>
                </a:solidFill>
              </a:defRPr>
            </a:pPr>
            <a:r>
              <a:t>Генерация официальной отчетности для руководства за 1 секунду.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3268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t>СЛАЙД 6 // НАДЕЖНОСТЬ И РИСК-МЕНЕДЖМЕНТ</a:t>
            </a:r>
          </a:p>
          <a:p>
            <a:pPr>
              <a:defRPr sz="2100" b="1">
                <a:solidFill>
                  <a:srgbClr val="0F172A"/>
                </a:solidFill>
              </a:defRPr>
            </a:pPr>
            <a:r>
              <a:t>Стресс-тестирование и матрица парирования рисков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149840" y="411480"/>
            <a:ext cx="1280160" cy="38404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1000" b="1">
                <a:solidFill>
                  <a:srgbClr val="334155"/>
                </a:solidFill>
              </a:defRPr>
            </a:pPr>
            <a:r>
              <a:t>⏱ 3:05 — 3:45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10725912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08760"/>
            <a:ext cx="10725912" cy="73152"/>
          </a:xfrm>
          <a:prstGeom prst="round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645920"/>
            <a:ext cx="10149840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B45309"/>
                </a:solidFill>
              </a:defRPr>
            </a:pPr>
            <a:r>
              <a:t>⚡ Результаты Обязательного стресс-теста ТЗ (2038–2040 гг.)</a:t>
            </a:r>
          </a:p>
          <a:p>
            <a:pPr>
              <a:spcBef>
                <a:spcPts val="400"/>
              </a:spcBef>
              <a:defRPr sz="1050">
                <a:solidFill>
                  <a:srgbClr val="334155"/>
                </a:solidFill>
              </a:defRPr>
            </a:pPr>
            <a:r>
              <a:t>Параметры шока: Спрос +15% (38–40 гг.), тарифы Земли +25% (38–39 гг.), срез лунного ISRU до 55% и 75%.</a:t>
            </a:r>
            <a:br/>
            <a:r>
              <a:t>• Потери Throughput: 1.2% — строго выдержан норматив ТЗ (&lt;= 2.0%) благодаря модернизации ZBO.</a:t>
            </a:r>
            <a:br/>
            <a:r>
              <a:t>• Критический SLA: 100.0% — дефицит пилотируемых миссий равен строго 0.0 тонн на всем горизонте.</a:t>
            </a:r>
            <a:br/>
            <a:r>
              <a:t>• Совокупный SLA: 97.4% — директивный норматив ТЗ (&gt;= 97.0%) полностью соблюден.</a:t>
            </a:r>
            <a:br/>
            <a:r>
              <a:t>• Бонусный геополитический контур: модуль выдерживает санкционный скачок земных тарифов до +50%.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703320"/>
            <a:ext cx="10725912" cy="2651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31520" y="3703320"/>
            <a:ext cx="10725912" cy="73152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914400" y="3886200"/>
          <a:ext cx="10360152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2468880"/>
                <a:gridCol w="4599432"/>
              </a:tblGrid>
              <a:tr h="457200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Фактор неопределенности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Потенциальный ущерб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Инженерная мера парирования в системе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Задержка ввода ISRU на 2 года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B45309"/>
                          </a:solidFill>
                        </a:defRPr>
                      </a:pPr>
                      <a:r>
                        <a:t>+850 млн у.е. LCC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Шлюз 03: Активация резервного опциона Earth-New (130 т/год).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Штрафы Take-or-Pay за недобор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B45309"/>
                          </a:solidFill>
                        </a:defRPr>
                      </a:pPr>
                      <a:r>
                        <a:t>до 120 млн у.е./год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Алгоритм NASA MILP: Объем заказа строго равен бронированию (0 штрафов).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Рост цен пусков Земли на +25%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B45309"/>
                          </a:solidFill>
                        </a:defRPr>
                      </a:pPr>
                      <a:r>
                        <a:t>+435 млн у.е. LCC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Приоритетный отбор лунного топлива (до 120 т/год по себестоимости 3.0).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Аномальный пик спроса (&gt; +20%)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B45309"/>
                          </a:solidFill>
                        </a:defRPr>
                      </a:pPr>
                      <a:r>
                        <a:t>Риск дефицита топлива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Экспресс-доставка Earth-Flex + неснижаемый Emergency-резерв 80 т.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3268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t>СЛАЙД 7 // ИТОГИ И РЕШЕНИЯ</a:t>
            </a:r>
          </a:p>
          <a:p>
            <a:pPr>
              <a:defRPr sz="2100" b="1">
                <a:solidFill>
                  <a:srgbClr val="0F172A"/>
                </a:solidFill>
              </a:defRPr>
            </a:pPr>
            <a:r>
              <a:t>Результаты выполнения кейса и проект решений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149840" y="411480"/>
            <a:ext cx="1280160" cy="38404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1000" b="1">
                <a:solidFill>
                  <a:srgbClr val="334155"/>
                </a:solidFill>
              </a:defRPr>
            </a:pPr>
            <a:r>
              <a:t>⏱ 3:45 — 4:00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512064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08760"/>
            <a:ext cx="5120640" cy="73152"/>
          </a:xfrm>
          <a:prstGeom prst="roundRect">
            <a:avLst/>
          </a:prstGeom>
          <a:solidFill>
            <a:srgbClr val="1095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691640"/>
            <a:ext cx="4572000" cy="4480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10955D"/>
                </a:solidFill>
              </a:defRPr>
            </a:pPr>
            <a:r>
              <a:t>🏆 Ключевые результаты команды</a:t>
            </a:r>
          </a:p>
          <a:p>
            <a:pPr>
              <a:spcBef>
                <a:spcPts val="600"/>
              </a:spcBef>
              <a:defRPr sz="1100" b="1">
                <a:solidFill>
                  <a:srgbClr val="0F172A"/>
                </a:solidFill>
              </a:defRPr>
            </a:pPr>
            <a:r>
              <a:t>✓ 100% выполнение ТЗ:</a:t>
            </a:r>
          </a:p>
          <a:p>
            <a:pPr>
              <a:spcAft>
                <a:spcPts val="200"/>
              </a:spcAft>
              <a:defRPr sz="1000">
                <a:solidFill>
                  <a:srgbClr val="334155"/>
                </a:solidFill>
              </a:defRPr>
            </a:pPr>
            <a:r>
              <a:t>   Все 20 критериев кейса выполнены полностью + реализован бонус за геополитику.</a:t>
            </a:r>
          </a:p>
          <a:p>
            <a:pPr>
              <a:spcBef>
                <a:spcPts val="600"/>
              </a:spcBef>
              <a:defRPr sz="1100" b="1">
                <a:solidFill>
                  <a:srgbClr val="0F172A"/>
                </a:solidFill>
              </a:defRPr>
            </a:pPr>
            <a:r>
              <a:t>✓ Абсолютная точность физики:</a:t>
            </a:r>
          </a:p>
          <a:p>
            <a:pPr>
              <a:spcAft>
                <a:spcPts val="200"/>
              </a:spcAft>
              <a:defRPr sz="1000">
                <a:solidFill>
                  <a:srgbClr val="334155"/>
                </a:solidFill>
              </a:defRPr>
            </a:pPr>
            <a:r>
              <a:t>   Сходимость контрольного примера 2035 г. с точностью до 10^-4 т подтверждена тестами.</a:t>
            </a:r>
          </a:p>
          <a:p>
            <a:pPr>
              <a:spcBef>
                <a:spcPts val="600"/>
              </a:spcBef>
              <a:defRPr sz="1100" b="1">
                <a:solidFill>
                  <a:srgbClr val="0F172A"/>
                </a:solidFill>
              </a:defRPr>
            </a:pPr>
            <a:r>
              <a:t>✓ Экономия 1 096.8 млн у.е.:</a:t>
            </a:r>
          </a:p>
          <a:p>
            <a:pPr>
              <a:spcAft>
                <a:spcPts val="200"/>
              </a:spcAft>
              <a:defRPr sz="1000">
                <a:solidFill>
                  <a:srgbClr val="334155"/>
                </a:solidFill>
              </a:defRPr>
            </a:pPr>
            <a:r>
              <a:t>   Доказанное снижение NPV LCC на 11.81% при ядре NASA MILP без потери надежности.</a:t>
            </a:r>
          </a:p>
          <a:p>
            <a:pPr>
              <a:spcBef>
                <a:spcPts val="600"/>
              </a:spcBef>
              <a:defRPr sz="1100" b="1">
                <a:solidFill>
                  <a:srgbClr val="0F172A"/>
                </a:solidFill>
              </a:defRPr>
            </a:pPr>
            <a:r>
              <a:t>✓ Соблюдение лимитов CAPEX:</a:t>
            </a:r>
          </a:p>
          <a:p>
            <a:pPr>
              <a:spcAft>
                <a:spcPts val="200"/>
              </a:spcAft>
              <a:defRPr sz="1000">
                <a:solidFill>
                  <a:srgbClr val="334155"/>
                </a:solidFill>
              </a:defRPr>
            </a:pPr>
            <a:r>
              <a:t>   Запас +370 млн у.е. до 2037 года и +1 190 млн у.е. на всем горизонте до 2040 г.</a:t>
            </a:r>
          </a:p>
          <a:p>
            <a:pPr>
              <a:spcBef>
                <a:spcPts val="600"/>
              </a:spcBef>
              <a:defRPr sz="1100" b="1">
                <a:solidFill>
                  <a:srgbClr val="0F172A"/>
                </a:solidFill>
              </a:defRPr>
            </a:pPr>
            <a:r>
              <a:t>✓ Инженерная готовность:</a:t>
            </a:r>
          </a:p>
          <a:p>
            <a:pPr>
              <a:spcAft>
                <a:spcPts val="200"/>
              </a:spcAft>
              <a:defRPr sz="1000">
                <a:solidFill>
                  <a:srgbClr val="334155"/>
                </a:solidFill>
              </a:defRPr>
            </a:pPr>
            <a:r>
              <a:t>   Полноценный интерактивный веб-комплекс, 38 тестов pytest, экспорт XLSX в 1 клик.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08760"/>
            <a:ext cx="521208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217920" y="1508760"/>
            <a:ext cx="5212080" cy="73152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691640"/>
            <a:ext cx="4663440" cy="4480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369A1"/>
                </a:solidFill>
              </a:defRPr>
            </a:pPr>
            <a:r>
              <a:t>📝 Проект решений для утверждения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1050">
                <a:solidFill>
                  <a:srgbClr val="0F172A"/>
                </a:solidFill>
              </a:defRPr>
            </a:pPr>
            <a:r>
              <a:t>1. Утвердить алгоритм NASA MILP в качестве штатного оптимизатора логистических потоков ОТУ.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1050">
                <a:solidFill>
                  <a:srgbClr val="0F172A"/>
                </a:solidFill>
              </a:defRPr>
            </a:pPr>
            <a:r>
              <a:t>2. Санкционировать финансирование ZBO-модернизации (180 млн у.е.) в 2036 г. для удержания потерь &lt;= 2.0%.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1050">
                <a:solidFill>
                  <a:srgbClr val="0F172A"/>
                </a:solidFill>
              </a:defRPr>
            </a:pPr>
            <a:r>
              <a:t>3. Утвердить инвестиционный график Lunar-ISRU (250 + 500 + 500 млн у.е. в 2035–2037 гг.).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1050">
                <a:solidFill>
                  <a:srgbClr val="0F172A"/>
                </a:solidFill>
              </a:defRPr>
            </a:pPr>
            <a:r>
              <a:t>4. Рекомендовать разработанный программный комплекс к опытно-промышленной эксплуатации в ЦУП.</a:t>
            </a:r>
          </a:p>
          <a:p>
            <a:br/>
            <a:pPr algn="ctr">
              <a:spcBef>
                <a:spcPts val="1400"/>
              </a:spcBef>
              <a:defRPr sz="1300" b="1">
                <a:solidFill>
                  <a:srgbClr val="0369A1"/>
                </a:solidFill>
              </a:defRPr>
            </a:pPr>
            <a:r>
              <a:t>СПАСИБО ЗА ВНИМАНИЕ!</a:t>
            </a:r>
            <a:br/>
            <a:r>
              <a:t>ГОТОВЫ К СЕССИИ ВОПРОСОВ И ОТВЕТОВ (Q&amp;A)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