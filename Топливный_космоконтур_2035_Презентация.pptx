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CFF00"/>
                </a:solidFill>
              </a:defRPr>
            </a:pPr>
            <a:r>
              <a:t>&lt;СЛАЙД 01 // КОНЦЕПЦИЯ СИСТЕМЫ&gt;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ТОПЛИВНЫЙ КОСМОКОНТУР 2035 // СИТУАЦИОННЫЙ ЦЕНТР ОТУ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371600" cy="365760"/>
          </a:xfrm>
          <a:prstGeom prst="roundRect">
            <a:avLst/>
          </a:prstGeom>
          <a:solidFill>
            <a:srgbClr val="18181C"/>
          </a:solidFill>
          <a:ln>
            <a:solidFill>
              <a:srgbClr val="23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A1A1AA"/>
                </a:solidFill>
              </a:defRPr>
            </a:pPr>
            <a:r>
              <a:t>0:00 — 0:35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0F14"/>
          </a:solidFill>
          <a:ln w="127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CFF00"/>
                </a:solidFill>
              </a:defRPr>
            </a:pPr>
            <a:r>
              <a:t>🎯 СТРАТЕГИЧЕСКИЙ ВЫЗОВ ЛУННОЙ ПРОГРАММЫ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Развертывание и гарантированное снабжение цислунарного орбитального топливного узла (ОТУ) в 2035–2040 гг. для обеспечения пилотируемой станции, многоразовых посадочных модулей и межорбитальных буксиров.</a:t>
            </a:r>
          </a:p>
          <a:p>
            <a:br/>
            <a:pPr>
              <a:defRPr sz="1200" b="1">
                <a:solidFill>
                  <a:srgbClr val="CCFF00"/>
                </a:solidFill>
              </a:defRPr>
            </a:pPr>
            <a:r>
              <a:t>⚠️ КРИТИЧЕСКИЕ БАРЬЕРЫ КЕЙСА:</a:t>
            </a:r>
          </a:p>
          <a:p>
            <a:pPr>
              <a:defRPr sz="1100">
                <a:solidFill>
                  <a:srgbClr val="A1A1AA"/>
                </a:solidFill>
              </a:defRPr>
            </a:pPr>
            <a:r>
              <a:t>• Колоссальная стоимость земной доставки: 6.2–8.9 млн у.е./т при плече до 12 мес.</a:t>
            </a:r>
          </a:p>
          <a:p>
            <a:pPr>
              <a:defRPr sz="1100">
                <a:solidFill>
                  <a:srgbClr val="A1A1AA"/>
                </a:solidFill>
              </a:defRPr>
            </a:pPr>
            <a:r>
              <a:t>• Директивный потолок бюджета: CAPEX &lt;= 1 800 млн у.е. до конца 2037 г.</a:t>
            </a:r>
          </a:p>
          <a:p>
            <a:pPr>
              <a:defRPr sz="1100">
                <a:solidFill>
                  <a:srgbClr val="A1A1AA"/>
                </a:solidFill>
              </a:defRPr>
            </a:pPr>
            <a:r>
              <a:t>• Безусловная безопасность: критический SLA &gt;= 99.0% и неснижаемый 45-дневный буфер.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F0F14"/>
          </a:solidFill>
          <a:ln w="12700">
            <a:solidFill>
              <a:srgbClr val="23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CFF00"/>
                </a:solidFill>
              </a:defRPr>
            </a:pPr>
            <a:r>
              <a:t>🏛️ ОТЕЧЕСТВЕННЫЙ ТЕХНОЛОГИЧЕСКИЙ СТЕК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Python 3.12 + Pydantic v2</a:t>
            </a:r>
          </a:p>
          <a:p>
            <a:pPr>
              <a:defRPr sz="1100">
                <a:solidFill>
                  <a:srgbClr val="A1A1AA"/>
                </a:solidFill>
              </a:defRPr>
            </a:pPr>
            <a:r>
              <a:t>Строго типизированное детерминированное математическое ядро. Запрещены эвристики и неявные допущения.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FastAPI + OpenAPI Docs</a:t>
            </a:r>
          </a:p>
          <a:p>
            <a:pPr>
              <a:defRPr sz="1100">
                <a:solidFill>
                  <a:srgbClr val="A1A1AA"/>
                </a:solidFill>
              </a:defRPr>
            </a:pPr>
            <a:r>
              <a:t>Высокопроизводительный REST API слой со строгой валидацией запросов и русской локализацией ошибок.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React 19 + TypeScript + Vite</a:t>
            </a:r>
          </a:p>
          <a:p>
            <a:pPr>
              <a:defRPr sz="1100">
                <a:solidFill>
                  <a:srgbClr val="A1A1AA"/>
                </a:solidFill>
              </a:defRPr>
            </a:pPr>
            <a:r>
              <a:t>Рабочее место оператора с реактивным откликом (&lt; 20 мс) и симметричным кибер-бруталистским дизайном.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38 Автоматических тестов pytest</a:t>
            </a:r>
          </a:p>
          <a:p>
            <a:pPr>
              <a:defRPr sz="1100">
                <a:solidFill>
                  <a:srgbClr val="A1A1AA"/>
                </a:solidFill>
              </a:defRPr>
            </a:pPr>
            <a:r>
              <a:t>100% воспроизводимость: контрольный пример 2035 года проверен до 4 знаков после запятой.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CFF00"/>
                </a:solidFill>
              </a:defRPr>
            </a:pPr>
            <a:r>
              <a:t>&lt;СЛАЙД 02 // МАТЕМАТИЧЕСКОЕ ЯДРО&gt;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ФИЗИЧЕСКИЙ МАТЕРИАЛЬНЫЙ БАЛАНС И ВЕРИФИКАЦИЯ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371600" cy="365760"/>
          </a:xfrm>
          <a:prstGeom prst="roundRect">
            <a:avLst/>
          </a:prstGeom>
          <a:solidFill>
            <a:srgbClr val="18181C"/>
          </a:solidFill>
          <a:ln>
            <a:solidFill>
              <a:srgbClr val="23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A1A1AA"/>
                </a:solidFill>
              </a:defRPr>
            </a:pPr>
            <a:r>
              <a:t>0:35 — 1:10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0F14"/>
          </a:solidFill>
          <a:ln w="12700">
            <a:solidFill>
              <a:srgbClr val="23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CFF00"/>
                </a:solidFill>
              </a:defRPr>
            </a:pPr>
            <a:r>
              <a:t>⚖️ ФОРМУЛА ФИЗИЧЕСКОГО БАЛАНСА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End_Stock = Start_Stock + Gross - Losses - Served</a:t>
            </a:r>
          </a:p>
          <a:p>
            <a:br/>
            <a:pPr>
              <a:defRPr sz="1100">
                <a:solidFill>
                  <a:srgbClr val="A1A1AA"/>
                </a:solidFill>
              </a:defRPr>
            </a:pPr>
            <a:r>
              <a:t>• Потери throughput (4.5% / 1.2%): Начисляются строго 1 раз на валовый приход топлива. Повторные потери на остаток исключены.</a:t>
            </a:r>
          </a:p>
          <a:p>
            <a:br/>
            <a:pPr>
              <a:defRPr sz="1100">
                <a:solidFill>
                  <a:srgbClr val="A1A1AA"/>
                </a:solidFill>
              </a:defRPr>
            </a:pPr>
            <a:r>
              <a:t>• Исключение отрицательных остатков: Физический остаток строго &gt;= 0. При дефиците объем недопоставки изолируется в отдельную метрику.</a:t>
            </a:r>
          </a:p>
          <a:p>
            <a:br/>
            <a:pPr>
              <a:defRPr sz="1100">
                <a:solidFill>
                  <a:srgbClr val="A1A1AA"/>
                </a:solidFill>
              </a:defRPr>
            </a:pPr>
            <a:r>
              <a:t>• Приоритет критического спроса: Пилотируемый сектор обеспечивается первым: Served_Crit = min(Served, Demand_Crit).</a:t>
            </a:r>
          </a:p>
          <a:p>
            <a:br/>
            <a:pPr>
              <a:defRPr sz="1100">
                <a:solidFill>
                  <a:srgbClr val="A1A1AA"/>
                </a:solidFill>
              </a:defRPr>
            </a:pPr>
            <a:r>
              <a:t>• Защита Take-or-Pay от двойного счета: Billable_Vol = max(Order, 0.70 * Reserved). Штраф начисляется только при недоборе лимита.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F0F14"/>
          </a:solidFill>
          <a:ln w="127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CFF00"/>
                </a:solidFill>
              </a:defRPr>
            </a:pPr>
            <a:r>
              <a:t>🔬 ВЕРИФИКАЦИЯ КОНТРОЛЬНОГО ПРИМЕРА 2035 Г.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Параметр проверки          ТЗ        Ядро      Дельта</a:t>
            </a:r>
          </a:p>
          <a:p>
            <a:pPr>
              <a:defRPr sz="1000">
                <a:solidFill>
                  <a:srgbClr val="A1A1AA"/>
                </a:solidFill>
              </a:defRPr>
            </a:pPr>
            <a:r>
              <a:t>Начальный запас (45 дней) 12.3288 т  12.3288 т  0.0000</a:t>
            </a:r>
          </a:p>
          <a:p>
            <a:pPr>
              <a:defRPr sz="1000">
                <a:solidFill>
                  <a:srgbClr val="A1A1AA"/>
                </a:solidFill>
              </a:defRPr>
            </a:pPr>
            <a:r>
              <a:t>Заказ Earth-Core         95.0000 т  95.0000 т  0.0000</a:t>
            </a:r>
          </a:p>
          <a:p>
            <a:pPr>
              <a:defRPr sz="1000">
                <a:solidFill>
                  <a:srgbClr val="A1A1AA"/>
                </a:solidFill>
              </a:defRPr>
            </a:pPr>
            <a:r>
              <a:t>Потери валовые (4.5%)    4.2750 т   4.2750 т   0.0000</a:t>
            </a:r>
          </a:p>
          <a:p>
            <a:pPr>
              <a:defRPr sz="1000">
                <a:solidFill>
                  <a:srgbClr val="A1A1AA"/>
                </a:solidFill>
              </a:defRPr>
            </a:pPr>
            <a:r>
              <a:t>Полезный приход          90.7250 т  90.7250 т  0.0000</a:t>
            </a:r>
          </a:p>
          <a:p>
            <a:pPr>
              <a:defRPr sz="1000">
                <a:solidFill>
                  <a:srgbClr val="A1A1AA"/>
                </a:solidFill>
              </a:defRPr>
            </a:pPr>
            <a:r>
              <a:t>Отпуск на спрос (в т.ч. крит 80) 100.0000 т 100.0000 т 0.0000</a:t>
            </a:r>
          </a:p>
          <a:p>
            <a:pPr>
              <a:defRPr sz="1000">
                <a:solidFill>
                  <a:srgbClr val="CCFF00"/>
                </a:solidFill>
              </a:defRPr>
            </a:pPr>
            <a:r>
              <a:t>Конечный остаток на 31.12 3.0538 т   3.0538 т   0.0000 ✅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✓ Автоматический тест test_balance.py подтверждает сходимость с точностью до 4 знаков.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CFF00"/>
                </a:solidFill>
              </a:defRPr>
            </a:pPr>
            <a:r>
              <a:t>&lt;СЛАЙД 03 // ИНВЕСТИЦИОННАЯ СТРАТЕГИЯ&gt;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ИНВЕСТИЦИОННЫЕ ВОРОТА (GATE-ПОДХОД КЕЙСА)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371600" cy="365760"/>
          </a:xfrm>
          <a:prstGeom prst="roundRect">
            <a:avLst/>
          </a:prstGeom>
          <a:solidFill>
            <a:srgbClr val="18181C"/>
          </a:solidFill>
          <a:ln>
            <a:solidFill>
              <a:srgbClr val="23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A1A1AA"/>
                </a:solidFill>
              </a:defRPr>
            </a:pPr>
            <a:r>
              <a:t>1:10 — 1:45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0F0F14"/>
          </a:solidFill>
          <a:ln w="127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CFF00"/>
                </a:solidFill>
              </a:defRPr>
            </a:pPr>
            <a:r>
              <a:t>ШЛЮЗ 01: ZBO-МОДЕРНИЗАЦИЯ</a:t>
            </a:r>
          </a:p>
          <a:p>
            <a:br/>
            <a:pPr>
              <a:defRPr sz="1800" b="1">
                <a:solidFill>
                  <a:srgbClr val="FFFFFF"/>
                </a:solidFill>
              </a:defRPr>
            </a:pPr>
            <a:r>
              <a:t>CAPEX: 180 МЛН У.Е.</a:t>
            </a:r>
          </a:p>
          <a:p>
            <a:br/>
            <a:pPr>
              <a:defRPr sz="1100">
                <a:solidFill>
                  <a:srgbClr val="A1A1AA"/>
                </a:solidFill>
              </a:defRPr>
            </a:pPr>
            <a:r>
              <a:t>• Год ввода: 2036 г.</a:t>
            </a:r>
            <a:br/>
            <a:r>
              <a:t>• OPEX: +12 млн у.е./год</a:t>
            </a:r>
            <a:br/>
            <a:r>
              <a:t>• Снижение потерь: 4.5% -&gt; 1.2%</a:t>
            </a:r>
            <a:br/>
            <a:r>
              <a:t>• Расширение баков: 70 -&gt; 120 т</a:t>
            </a:r>
            <a:br/>
            <a:br/>
            <a:r>
              <a:t>Критическое решение: без ZBO невозможно пройти обязательный стресс-тест ТЗ (потери выше нормы &lt;= 2.0%).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328416" cy="4389120"/>
          </a:xfrm>
          <a:prstGeom prst="roundRect">
            <a:avLst/>
          </a:prstGeom>
          <a:solidFill>
            <a:srgbClr val="0F0F14"/>
          </a:solidFill>
          <a:ln w="127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CFF00"/>
                </a:solidFill>
              </a:defRPr>
            </a:pPr>
            <a:r>
              <a:t>ШЛЮЗ 02: LUNAR-ISRU (ЛУНА)</a:t>
            </a:r>
          </a:p>
          <a:p>
            <a:br/>
            <a:pPr>
              <a:defRPr sz="1800" b="1">
                <a:solidFill>
                  <a:srgbClr val="FFFFFF"/>
                </a:solidFill>
              </a:defRPr>
            </a:pPr>
            <a:r>
              <a:t>CAPEX: 1 250 МЛН У.Е.</a:t>
            </a:r>
          </a:p>
          <a:p>
            <a:br/>
            <a:pPr>
              <a:defRPr sz="1100">
                <a:solidFill>
                  <a:srgbClr val="A1A1AA"/>
                </a:solidFill>
              </a:defRPr>
            </a:pPr>
            <a:r>
              <a:t>• Транши: 250 (35) + 500 (36) + 500 (37)</a:t>
            </a:r>
            <a:br/>
            <a:r>
              <a:t>• Ввод в строй: строго с 2038 г.</a:t>
            </a:r>
            <a:br/>
            <a:r>
              <a:t>• Мощность: до 120 т/год</a:t>
            </a:r>
            <a:br/>
            <a:r>
              <a:t>• Себестоимость: 3.0 млн/т (0 бронь)</a:t>
            </a:r>
            <a:br/>
            <a:br/>
            <a:r>
              <a:t>CAPEX до 2037 г.: 1 430 млн у.е. при лимите 1 800 млн (запас +370 млн у.е.). Окупается к 2040 г.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645920"/>
            <a:ext cx="3328416" cy="4389120"/>
          </a:xfrm>
          <a:prstGeom prst="roundRect">
            <a:avLst/>
          </a:prstGeom>
          <a:solidFill>
            <a:srgbClr val="0F0F14"/>
          </a:solidFill>
          <a:ln w="12700">
            <a:solidFill>
              <a:srgbClr val="23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ШЛЮЗ 03: ОПЦИОН EARTH-NEW</a:t>
            </a:r>
          </a:p>
          <a:p>
            <a:br/>
            <a:pPr>
              <a:defRPr sz="1800" b="1">
                <a:solidFill>
                  <a:srgbClr val="FFFFFF"/>
                </a:solidFill>
              </a:defRPr>
            </a:pPr>
            <a:r>
              <a:t>CAPEX: 360 МЛН У.Е.</a:t>
            </a:r>
          </a:p>
          <a:p>
            <a:br/>
            <a:pPr>
              <a:defRPr sz="1100">
                <a:solidFill>
                  <a:srgbClr val="A1A1AA"/>
                </a:solidFill>
              </a:defRPr>
            </a:pPr>
            <a:r>
              <a:t>• Опцион: 90 млн у.е. (2035 г.)</a:t>
            </a:r>
            <a:br/>
            <a:r>
              <a:t>• Ввод: 270 млн у.е. (2036 г.)</a:t>
            </a:r>
            <a:br/>
            <a:r>
              <a:t>• Мощность: 130 т/год (тариф 7.1)</a:t>
            </a:r>
            <a:br/>
            <a:br/>
            <a:r>
              <a:t>Решение: Оставить в резерве. Служит страховкой на случай задержки лунной базы более чем на 2 года.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CFF00"/>
                </a:solidFill>
              </a:defRPr>
            </a:pPr>
            <a:r>
              <a:t>&lt;СЛАЙД 04 // ЖИВОЕ ДЕМО&gt;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РАБОЧЕЕ МЕСТО ОПЕРАТОРА ОТУ (ДЕМОНСТРАЦИЯ)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371600" cy="365760"/>
          </a:xfrm>
          <a:prstGeom prst="roundRect">
            <a:avLst/>
          </a:prstGeom>
          <a:solidFill>
            <a:srgbClr val="18181C"/>
          </a:solidFill>
          <a:ln>
            <a:solidFill>
              <a:srgbClr val="23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A1A1AA"/>
                </a:solidFill>
              </a:defRPr>
            </a:pPr>
            <a:r>
              <a:t>1:45 — 2:45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0F14"/>
          </a:solidFill>
          <a:ln w="12700">
            <a:solidFill>
              <a:srgbClr val="23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CFF00"/>
                </a:solidFill>
              </a:defRPr>
            </a:pPr>
            <a:r>
              <a:t>🖥️ ЕДИНЫЙ ЭКРАН СИТУАЦИОННОГО ЦЕНТРА</a:t>
            </a:r>
          </a:p>
          <a:p>
            <a:br/>
            <a:pPr>
              <a:defRPr sz="1100">
                <a:solidFill>
                  <a:srgbClr val="A1A1AA"/>
                </a:solidFill>
              </a:defRPr>
            </a:pPr>
            <a:r>
              <a:t>• Интегральные KPI: Статус узла, затраты LCC, NPV (r=8%), обслуженный спрос, физический дефицит, потери оборота.</a:t>
            </a:r>
          </a:p>
          <a:p>
            <a:br/>
            <a:pPr>
              <a:defRPr sz="1100">
                <a:solidFill>
                  <a:srgbClr val="A1A1AA"/>
                </a:solidFill>
              </a:defRPr>
            </a:pPr>
            <a:r>
              <a:t>• Панель 10 ограничений: Живые алерты SLA &gt;= 99%, лимитов CAPEX 1800/2800 млн, буфера 45 дней, емкости баков 120 т.</a:t>
            </a:r>
          </a:p>
          <a:p>
            <a:br/>
            <a:pPr>
              <a:defRPr sz="1100">
                <a:solidFill>
                  <a:srgbClr val="A1A1AA"/>
                </a:solidFill>
              </a:defRPr>
            </a:pPr>
            <a:r>
              <a:t>• Слайдеры отбора и брони: Управление 5 каналами с индикатором порога Take-or-Pay.</a:t>
            </a:r>
          </a:p>
          <a:p>
            <a:br/>
            <a:pPr>
              <a:defRPr sz="1100">
                <a:solidFill>
                  <a:srgbClr val="A1A1AA"/>
                </a:solidFill>
              </a:defRPr>
            </a:pPr>
            <a:r>
              <a:t>• 4 Графика Recharts: Материальный баланс, траектория бака, структура LCC и дельта стресс-теста.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F0F14"/>
          </a:solidFill>
          <a:ln w="127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56032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CFF00"/>
                </a:solidFill>
              </a:defRPr>
            </a:pPr>
            <a:r>
              <a:t>⚡ ПЕРЕХОД К ЖИВОМУ ДЕМОНСТРАЦИОННОМУ СТЕНДУ</a:t>
            </a:r>
          </a:p>
          <a:p>
            <a:br/>
            <a:pPr algn="ctr">
              <a:defRPr sz="1300">
                <a:solidFill>
                  <a:srgbClr val="FFFFFF"/>
                </a:solidFill>
              </a:defRPr>
            </a:pPr>
            <a:r>
              <a:t>Демонстрация в браузере (http://localhost:3000):</a:t>
            </a:r>
            <a:br/>
            <a:br/>
            <a:r>
              <a:t>1. Запуск Обязательного стресс-теста ТЗ</a:t>
            </a:r>
            <a:br/>
            <a:r>
              <a:t>2. Тестирование отказа без ZBO и снятие нарушения</a:t>
            </a:r>
            <a:br/>
            <a:r>
              <a:t>3. Интерактивный отклик Take-or-Pay при снижении отбора</a:t>
            </a:r>
            <a:br/>
            <a:r>
              <a:t>4. Скачивание многостраничного отчета Excel в 1 клик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CFF00"/>
                </a:solidFill>
              </a:defRPr>
            </a:pPr>
            <a:r>
              <a:t>&lt;СЛАЙД 05 // ИННОВАЦИЯ И ВАУ-ЭФФЕКТ&gt;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МУЛЬТИ-ЯДЕРНАЯ ОПТИМИЗАЦИЯ // NASA SPACE LOGISTICS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371600" cy="365760"/>
          </a:xfrm>
          <a:prstGeom prst="roundRect">
            <a:avLst/>
          </a:prstGeom>
          <a:solidFill>
            <a:srgbClr val="18181C"/>
          </a:solidFill>
          <a:ln>
            <a:solidFill>
              <a:srgbClr val="23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A1A1AA"/>
                </a:solidFill>
              </a:defRPr>
            </a:pPr>
            <a:r>
              <a:t>2:45 — 3:20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0F14"/>
          </a:solidFill>
          <a:ln w="127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CFF00"/>
                </a:solidFill>
              </a:defRPr>
            </a:pPr>
            <a:r>
              <a:t>🚀 NASA SPACE LOGISTICS (MILP) ★ ЦЕЛЕВОЕ ЯДРО</a:t>
            </a:r>
          </a:p>
          <a:p>
            <a:br/>
            <a:pPr>
              <a:defRPr sz="2200" b="1">
                <a:solidFill>
                  <a:srgbClr val="CCFF00"/>
                </a:solidFill>
              </a:defRPr>
            </a:pPr>
            <a:r>
              <a:t>ЭКОНОМИЯ: -11.81% NPV LCC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Снижение бюджета программы на 1 096.8 млн у.е. при сохранении 100% надежности!</a:t>
            </a:r>
            <a:br/>
            <a:br/>
            <a:r>
              <a:t>• Методология: MIT / NASA Glenn (AIAA Space Logistics Framework).</a:t>
            </a:r>
            <a:br/>
            <a:r>
              <a:t>• Целочисленное линейное программирование (MILP).</a:t>
            </a:r>
            <a:br/>
            <a:r>
              <a:t>• Обнуление Take-or-Pay: объем заказа строго равен бронированию.</a:t>
            </a:r>
            <a:br/>
            <a:r>
              <a:t>• Максимизация лунного топлива: забор 120 т/год по 3.0 млн у.е./т.</a:t>
            </a:r>
            <a:br/>
            <a:r>
              <a:t>• Минимизация расходов на хранение (0.72 млн/т·год).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F0F14"/>
          </a:solidFill>
          <a:ln w="12700">
            <a:solidFill>
              <a:srgbClr val="23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CFF00"/>
                </a:solidFill>
              </a:defRPr>
            </a:pPr>
            <a:r>
              <a:t>📊 СРАВНЕНИЕ МАТЕМАТИЧЕСКИХ АЛГОРИТМОВ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Метрика                  Регламент ТЗ   NASA MILP      Minimax</a:t>
            </a:r>
          </a:p>
          <a:p>
            <a:pPr>
              <a:defRPr sz="1000">
                <a:solidFill>
                  <a:srgbClr val="A1A1AA"/>
                </a:solidFill>
              </a:defRPr>
            </a:pPr>
            <a:r>
              <a:t>Критический SLA          100.0%         100.0%         100.0%</a:t>
            </a:r>
          </a:p>
          <a:p>
            <a:pPr>
              <a:defRPr sz="1000">
                <a:solidFill>
                  <a:srgbClr val="A1A1AA"/>
                </a:solidFill>
              </a:defRPr>
            </a:pPr>
            <a:r>
              <a:t>Общий SLA                98.8%          99.8%          99.5%</a:t>
            </a:r>
          </a:p>
          <a:p>
            <a:pPr>
              <a:defRPr sz="1000">
                <a:solidFill>
                  <a:srgbClr val="A1A1AA"/>
                </a:solidFill>
              </a:defRPr>
            </a:pPr>
            <a:r>
              <a:t>Недисконтированный LCC   11 483 млн     10 112 млн     11 950 млн</a:t>
            </a:r>
          </a:p>
          <a:p>
            <a:pPr>
              <a:defRPr sz="1000">
                <a:solidFill>
                  <a:srgbClr val="A1A1AA"/>
                </a:solidFill>
              </a:defRPr>
            </a:pPr>
            <a:r>
              <a:t>NPV LCC (r=8%)           9 284.7 млн    8 187.9 млн    9 540 млн</a:t>
            </a:r>
          </a:p>
          <a:p>
            <a:pPr>
              <a:defRPr sz="1000">
                <a:solidFill>
                  <a:srgbClr val="CCFF00"/>
                </a:solidFill>
              </a:defRPr>
            </a:pPr>
            <a:r>
              <a:t>Экономия бюджета         База (0%)      -11.81% (1.09 млрд) ★ +2.7% запас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Вывод: Алгоритм NASA MILP признан целевым ядром для минимизации затрат программы.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CFF00"/>
                </a:solidFill>
              </a:defRPr>
            </a:pPr>
            <a:r>
              <a:t>&lt;СЛАЙД 06 // СТРЕСС-ТЕСТЫ И РИСКИ&gt;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СТРЕСС-ТЕСТИРОВАНИЕ И МАТРИЦА РИСКОВ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371600" cy="365760"/>
          </a:xfrm>
          <a:prstGeom prst="roundRect">
            <a:avLst/>
          </a:prstGeom>
          <a:solidFill>
            <a:srgbClr val="18181C"/>
          </a:solidFill>
          <a:ln>
            <a:solidFill>
              <a:srgbClr val="23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A1A1AA"/>
                </a:solidFill>
              </a:defRPr>
            </a:pPr>
            <a:r>
              <a:t>3:20 — 3:45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0F14"/>
          </a:solidFill>
          <a:ln w="127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CFF00"/>
                </a:solidFill>
              </a:defRPr>
            </a:pPr>
            <a:r>
              <a:t>⚡ ОБЯЗАТЕЛЬНЫЙ СТРЕСС-ТЕСТ ТЗ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• Шоки спроса и цен: Спрос +15% (2038–2040), тарифы Earth-Core и Flex +25% (2038–2039), ISRU срезан до 55%/75%.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• Потери оборота: Фактические потери 1.2% (благодаря ZBO строго выдержан норматив &lt;= 2.0%).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• Критический SLA: 100.0% — дефицит пилотируемых миссий равен строго 0.0 тонн.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• Совокупный SLA: 97.4% — директивный норматив &gt;= 97.0% соблюден.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• Бонус: Геополитика (+5): Модуль парирования санкций и скачка тарифов Земли до +50%.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F0F14"/>
          </a:solidFill>
          <a:ln w="12700">
            <a:solidFill>
              <a:srgbClr val="23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CFF00"/>
                </a:solidFill>
              </a:defRPr>
            </a:pPr>
            <a:r>
              <a:t>🌪️ TORNADO-АНАЛИЗ ЧУВСТВИТЕЛЬНОСТИ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Фактор риска               Ущерб               Мера защиты</a:t>
            </a:r>
          </a:p>
          <a:p>
            <a:pPr>
              <a:defRPr sz="1000">
                <a:solidFill>
                  <a:srgbClr val="A1A1AA"/>
                </a:solidFill>
              </a:defRPr>
            </a:pPr>
            <a:r>
              <a:t>Задержка ввода ISRU на 2 года +850 млн у.е. LCC  Шлюз 03 (Опцион Earth-New)</a:t>
            </a:r>
          </a:p>
          <a:p>
            <a:pPr>
              <a:defRPr sz="1000">
                <a:solidFill>
                  <a:srgbClr val="A1A1AA"/>
                </a:solidFill>
              </a:defRPr>
            </a:pPr>
            <a:r>
              <a:t>Штрафы Take-or-Pay         до 120 млн/год     NASA MILP: Order = Reserved</a:t>
            </a:r>
          </a:p>
          <a:p>
            <a:pPr>
              <a:defRPr sz="1000">
                <a:solidFill>
                  <a:srgbClr val="A1A1AA"/>
                </a:solidFill>
              </a:defRPr>
            </a:pPr>
            <a:r>
              <a:t>Рост цен земных пусков +25% +435 млн у.е. LCC  Максимизация лунного топлива</a:t>
            </a:r>
          </a:p>
          <a:p>
            <a:pPr>
              <a:defRPr sz="1000">
                <a:solidFill>
                  <a:srgbClr val="A1A1AA"/>
                </a:solidFill>
              </a:defRPr>
            </a:pPr>
            <a:r>
              <a:t>Пиковый рост спроса свыше +20% Риск дефицита      Буфер 120 т + Emergency 80 т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Вывод: Все критические риски имеют встроенные в систему инженерные контрмеры.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CFF00"/>
                </a:solidFill>
              </a:defRPr>
            </a:pPr>
            <a:r>
              <a:t>&lt;СЛАЙД 07 // ИТОГИ И РЕШЕНИЯ&gt;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ИТОГИ ПРОГРАММЫ И ПРОЕКТ РЕШЕНИЙ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371600" cy="365760"/>
          </a:xfrm>
          <a:prstGeom prst="roundRect">
            <a:avLst/>
          </a:prstGeom>
          <a:solidFill>
            <a:srgbClr val="18181C"/>
          </a:solidFill>
          <a:ln>
            <a:solidFill>
              <a:srgbClr val="23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A1A1AA"/>
                </a:solidFill>
              </a:defRPr>
            </a:pPr>
            <a:r>
              <a:t>3:45 — 4:00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0F14"/>
          </a:solidFill>
          <a:ln w="127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CFF00"/>
                </a:solidFill>
              </a:defRPr>
            </a:pPr>
            <a:r>
              <a:t>🏆 РЕЗУЛЬТАТЫ ВЫПОЛНЕНИЯ КЕЙСА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✓ Все 20 критериев ТЗ выполнены на 100% + реализован бонус за геополитику.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✓ Сходимость контрольного примера 2035 г. с точностью до 4 знаков (10^-4 т).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✓ Доказанная экономия 1 096.8 млн у.е. NPV LCC при алгоритме NASA MILP.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✓ Соблюдение директивы CAPEX с запасом 370 млн у.е. до 2037 года.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✓ Масштабируемость до 2045 года и динамический ввод Канала F без изменения ядра.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✓ Экспорт официальной отчетности в 1 клик (XLSX на 7 листов с единицами измерения).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F0F14"/>
          </a:solidFill>
          <a:ln w="12700">
            <a:solidFill>
              <a:srgbClr val="23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CFF00"/>
                </a:solidFill>
              </a:defRPr>
            </a:pPr>
            <a:r>
              <a:t>📝 ПРОЕКТ РЕШЕНИЙ ЭКСПЕРТНОГО СОВЕТА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1. Принять целевой план на базе алгоритма NASA MILP как базовую стратегию снабжения ОТУ.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2. Утвердить финансирование ZBO-модернизации (180 млн у.е.) в 2036 г. для удержания потерь &lt;= 2.0%.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3. Санкционировать трехлетний график траншей Lunar-ISRU (250 + 500 + 500 млн у.е. в 2035–2037 гг.).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4. Внедрить разработанный комплекс в качестве штатного рабочего места ситуационного центра.</a:t>
            </a:r>
          </a:p>
          <a:p>
            <a:br/>
            <a:br/>
            <a:pPr algn="ctr">
              <a:defRPr sz="1300" b="1">
                <a:solidFill>
                  <a:srgbClr val="CCFF00"/>
                </a:solidFill>
              </a:defRPr>
            </a:pPr>
            <a:r>
              <a:t>СПАСИБО ЗА ВНИМАНИЕ! ГОТОВЫ К ОТВЕТАМ НА ВОПРОСЫ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